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45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normAutofit/>
          </a:bodyPr>
          <a:lstStyle>
            <a:lvl1pPr>
              <a:defRPr sz="4000">
                <a:solidFill>
                  <a:schemeClr val="tx1">
                    <a:lumMod val="50000"/>
                    <a:lumOff val="50000"/>
                  </a:schemeClr>
                </a:solidFill>
                <a:latin typeface="Aptos Display" panose="020B00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normAutofit/>
          </a:bodyPr>
          <a:lstStyle>
            <a:lvl1pPr>
              <a:buFont typeface="Wingdings" panose="05000000000000000000" pitchFamily="2" charset="2"/>
              <a:buChar char="§"/>
              <a:defRPr sz="1800">
                <a:solidFill>
                  <a:schemeClr val="tx1">
                    <a:lumMod val="50000"/>
                    <a:lumOff val="50000"/>
                  </a:schemeClr>
                </a:solidFill>
              </a:defRPr>
            </a:lvl1pPr>
            <a:lvl2pPr>
              <a:buFont typeface="Wingdings" panose="05000000000000000000" pitchFamily="2" charset="2"/>
              <a:buChar char="§"/>
              <a:defRPr sz="1600">
                <a:solidFill>
                  <a:schemeClr val="tx1">
                    <a:lumMod val="50000"/>
                    <a:lumOff val="50000"/>
                  </a:schemeClr>
                </a:solidFill>
              </a:defRPr>
            </a:lvl2pPr>
            <a:lvl3pPr>
              <a:buFont typeface="Wingdings" panose="05000000000000000000" pitchFamily="2" charset="2"/>
              <a:buChar char="§"/>
              <a:defRPr sz="1400">
                <a:solidFill>
                  <a:schemeClr val="tx1">
                    <a:lumMod val="50000"/>
                    <a:lumOff val="50000"/>
                  </a:schemeClr>
                </a:solidFill>
              </a:defRPr>
            </a:lvl3pPr>
            <a:lvl4pPr>
              <a:buFont typeface="Wingdings" panose="05000000000000000000" pitchFamily="2" charset="2"/>
              <a:buChar char="§"/>
              <a:defRPr sz="1200">
                <a:solidFill>
                  <a:schemeClr val="tx1">
                    <a:lumMod val="50000"/>
                    <a:lumOff val="50000"/>
                  </a:schemeClr>
                </a:solidFill>
              </a:defRPr>
            </a:lvl4pPr>
            <a:lvl5pPr>
              <a:buFont typeface="Wingdings" panose="05000000000000000000" pitchFamily="2" charset="2"/>
              <a:buChar char="§"/>
              <a:defRPr sz="1200">
                <a:solidFill>
                  <a:schemeClr val="tx1">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normAutofit/>
          </a:bodyPr>
          <a:lstStyle>
            <a:lvl1pPr>
              <a:buFont typeface="+mj-lt"/>
              <a:buAutoNum type="arabicPeriod"/>
              <a:defRPr sz="1800">
                <a:solidFill>
                  <a:schemeClr val="tx1">
                    <a:lumMod val="50000"/>
                    <a:lumOff val="50000"/>
                  </a:schemeClr>
                </a:solidFill>
              </a:defRPr>
            </a:lvl1pPr>
            <a:lvl2pPr>
              <a:buFont typeface="+mj-lt"/>
              <a:buAutoNum type="arabicPeriod"/>
              <a:defRPr sz="1600">
                <a:solidFill>
                  <a:schemeClr val="tx1">
                    <a:lumMod val="50000"/>
                    <a:lumOff val="50000"/>
                  </a:schemeClr>
                </a:solidFill>
              </a:defRPr>
            </a:lvl2pPr>
            <a:lvl3pPr>
              <a:buFont typeface="+mj-lt"/>
              <a:buAutoNum type="arabicPeriod"/>
              <a:defRPr sz="1400">
                <a:solidFill>
                  <a:schemeClr val="tx1">
                    <a:lumMod val="50000"/>
                    <a:lumOff val="50000"/>
                  </a:schemeClr>
                </a:solidFill>
              </a:defRPr>
            </a:lvl3pPr>
            <a:lvl4pPr>
              <a:buFont typeface="+mj-lt"/>
              <a:buAutoNum type="arabicPeriod"/>
              <a:defRPr sz="1200">
                <a:solidFill>
                  <a:schemeClr val="tx1">
                    <a:lumMod val="50000"/>
                    <a:lumOff val="50000"/>
                  </a:schemeClr>
                </a:solidFill>
              </a:defRPr>
            </a:lvl4pPr>
            <a:lvl5pPr>
              <a:buFont typeface="+mj-lt"/>
              <a:buAutoNum type="arabicPeriod"/>
              <a:defRPr sz="1200">
                <a:solidFill>
                  <a:schemeClr val="tx1">
                    <a:lumMod val="50000"/>
                    <a:lumOff val="50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F86FFDA0-CB7D-019A-4F4E-342FDA2C89D4}"/>
              </a:ext>
            </a:extLst>
          </p:cNvPr>
          <p:cNvPicPr>
            <a:picLocks noChangeAspect="1"/>
          </p:cNvPicPr>
          <p:nvPr userDrawn="1"/>
        </p:nvPicPr>
        <p:blipFill>
          <a:blip r:embed="rId13"/>
          <a:stretch>
            <a:fillRect/>
          </a:stretch>
        </p:blipFill>
        <p:spPr>
          <a:xfrm>
            <a:off x="4000500" y="6356350"/>
            <a:ext cx="1143000" cy="428625"/>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000" kern="1200">
          <a:solidFill>
            <a:schemeClr val="tx1">
              <a:lumMod val="50000"/>
              <a:lumOff val="50000"/>
            </a:schemeClr>
          </a:solidFill>
          <a:latin typeface="+mj-lt"/>
          <a:ea typeface="+mj-ea"/>
          <a:cs typeface="+mj-cs"/>
        </a:defRPr>
      </a:lvl1pPr>
    </p:titleStyle>
    <p:bodyStyle>
      <a:lvl1pPr marL="0" indent="0" algn="l" defTabSz="457200" rtl="0" eaLnBrk="1" latinLnBrk="0" hangingPunct="1">
        <a:spcBef>
          <a:spcPct val="20000"/>
        </a:spcBef>
        <a:buFont typeface="Wingdings" panose="05000000000000000000" pitchFamily="2" charset="2"/>
        <a:buNone/>
        <a:defRPr sz="2000" kern="1200">
          <a:solidFill>
            <a:schemeClr val="tx1">
              <a:lumMod val="50000"/>
              <a:lumOff val="50000"/>
            </a:schemeClr>
          </a:solidFill>
          <a:latin typeface="+mn-lt"/>
          <a:ea typeface="+mn-ea"/>
          <a:cs typeface="+mn-cs"/>
        </a:defRPr>
      </a:lvl1pPr>
      <a:lvl2pPr marL="457200" indent="0" algn="l" defTabSz="457200" rtl="0" eaLnBrk="1" latinLnBrk="0" hangingPunct="1">
        <a:spcBef>
          <a:spcPct val="20000"/>
        </a:spcBef>
        <a:buFont typeface="Wingdings" panose="05000000000000000000" pitchFamily="2" charset="2"/>
        <a:buNone/>
        <a:defRPr sz="1800" kern="1200">
          <a:solidFill>
            <a:schemeClr val="tx1">
              <a:lumMod val="50000"/>
              <a:lumOff val="50000"/>
            </a:schemeClr>
          </a:solidFill>
          <a:latin typeface="+mn-lt"/>
          <a:ea typeface="+mn-ea"/>
          <a:cs typeface="+mn-cs"/>
        </a:defRPr>
      </a:lvl2pPr>
      <a:lvl3pPr marL="914400" indent="0" algn="l" defTabSz="457200" rtl="0" eaLnBrk="1" latinLnBrk="0" hangingPunct="1">
        <a:spcBef>
          <a:spcPct val="20000"/>
        </a:spcBef>
        <a:buFont typeface="Wingdings" panose="05000000000000000000" pitchFamily="2" charset="2"/>
        <a:buNone/>
        <a:defRPr sz="1600" kern="1200">
          <a:solidFill>
            <a:schemeClr val="tx1">
              <a:lumMod val="50000"/>
              <a:lumOff val="50000"/>
            </a:schemeClr>
          </a:solidFill>
          <a:latin typeface="+mn-lt"/>
          <a:ea typeface="+mn-ea"/>
          <a:cs typeface="+mn-cs"/>
        </a:defRPr>
      </a:lvl3pPr>
      <a:lvl4pPr marL="1371600" indent="0" algn="l" defTabSz="457200" rtl="0" eaLnBrk="1" latinLnBrk="0" hangingPunct="1">
        <a:spcBef>
          <a:spcPct val="20000"/>
        </a:spcBef>
        <a:buFont typeface="Wingdings" panose="05000000000000000000" pitchFamily="2" charset="2"/>
        <a:buNone/>
        <a:defRPr sz="1400" kern="1200">
          <a:solidFill>
            <a:schemeClr val="tx1">
              <a:lumMod val="50000"/>
              <a:lumOff val="50000"/>
            </a:schemeClr>
          </a:solidFill>
          <a:latin typeface="+mn-lt"/>
          <a:ea typeface="+mn-ea"/>
          <a:cs typeface="+mn-cs"/>
        </a:defRPr>
      </a:lvl4pPr>
      <a:lvl5pPr marL="1828800" indent="0" algn="l" defTabSz="457200" rtl="0" eaLnBrk="1" latinLnBrk="0" hangingPunct="1">
        <a:spcBef>
          <a:spcPct val="20000"/>
        </a:spcBef>
        <a:buFont typeface="Wingdings" panose="05000000000000000000" pitchFamily="2" charset="2"/>
        <a:buNone/>
        <a:defRPr sz="1400" kern="1200">
          <a:solidFill>
            <a:schemeClr val="tx1">
              <a:lumMod val="50000"/>
              <a:lumOff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TITLE SLIDE</a:t>
            </a:r>
          </a:p>
        </p:txBody>
      </p:sp>
      <p:sp>
        <p:nvSpPr>
          <p:cNvPr id="3" name="Subtitle 2"/>
          <p:cNvSpPr>
            <a:spLocks noGrp="1"/>
          </p:cNvSpPr>
          <p:nvPr>
            <p:ph type="subTitle" idx="1"/>
          </p:nvPr>
        </p:nvSpPr>
        <p:spPr/>
        <p:txBody>
          <a:bodyPr/>
          <a:lstStyle/>
          <a:p>
            <a:r>
              <a:t>Subtitle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HEADER</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 TITLE</a:t>
            </a:r>
          </a:p>
        </p:txBody>
      </p:sp>
      <p:sp>
        <p:nvSpPr>
          <p:cNvPr id="3" name="Content Placeholder 2"/>
          <p:cNvSpPr>
            <a:spLocks noGrp="1"/>
          </p:cNvSpPr>
          <p:nvPr>
            <p:ph sz="half" idx="1"/>
          </p:nvPr>
        </p:nvSpPr>
        <p:spPr>
          <a:xfrm>
            <a:off x="457200" y="1600200"/>
            <a:ext cx="8229600" cy="4525963"/>
          </a:xfrm>
        </p:spPr>
        <p:txBody>
          <a:bodyPr/>
          <a:lstStyle/>
          <a:p>
            <a:pPr marL="0" indent="0">
              <a:buNone/>
            </a:pPr>
            <a:r>
              <a:rPr dirty="0"/>
              <a:t>Bullet point 1</a:t>
            </a:r>
          </a:p>
          <a:p>
            <a:pPr marL="0" indent="0">
              <a:buNone/>
            </a:pPr>
            <a:r>
              <a:rPr dirty="0"/>
              <a:t>Bullet point 2</a:t>
            </a:r>
          </a:p>
          <a:p>
            <a:pPr marL="0" indent="0">
              <a:buNone/>
            </a:pPr>
            <a:r>
              <a:rPr dirty="0"/>
              <a:t>Bullet point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OVERVIEW</a:t>
            </a:r>
          </a:p>
        </p:txBody>
      </p:sp>
      <p:sp>
        <p:nvSpPr>
          <p:cNvPr id="4" name="Content Placeholder 3"/>
          <p:cNvSpPr>
            <a:spLocks noGrp="1"/>
          </p:cNvSpPr>
          <p:nvPr>
            <p:ph sz="half" idx="2"/>
          </p:nvPr>
        </p:nvSpPr>
        <p:spPr/>
        <p:txBody>
          <a:bodyPr/>
          <a:lstStyle/>
          <a:p>
            <a:endParaRPr dirty="0"/>
          </a:p>
        </p:txBody>
      </p:sp>
      <p:sp>
        <p:nvSpPr>
          <p:cNvPr id="5" name="Text Placeholder 4"/>
          <p:cNvSpPr>
            <a:spLocks noGrp="1"/>
          </p:cNvSpPr>
          <p:nvPr>
            <p:ph type="body" sz="quarter" idx="3"/>
          </p:nvPr>
        </p:nvSpPr>
        <p:spPr/>
        <p:txBody>
          <a:bodyPr>
            <a:normAutofit/>
          </a:bodyPr>
          <a:lstStyle/>
          <a:p>
            <a:endParaRPr dirty="0"/>
          </a:p>
        </p:txBody>
      </p:sp>
      <p:sp>
        <p:nvSpPr>
          <p:cNvPr id="6" name="Content Placeholder 5"/>
          <p:cNvSpPr>
            <a:spLocks noGrp="1"/>
          </p:cNvSpPr>
          <p:nvPr>
            <p:ph sz="quarter" idx="4"/>
          </p:nvPr>
        </p:nvSpPr>
        <p:spPr/>
        <p:txBody>
          <a:bodyPr/>
          <a:lstStyle/>
          <a:p>
            <a:endParaRPr dirty="0"/>
          </a:p>
        </p:txBody>
      </p:sp>
      <p:sp>
        <p:nvSpPr>
          <p:cNvPr id="8" name="Text Placeholder 7">
            <a:extLst>
              <a:ext uri="{FF2B5EF4-FFF2-40B4-BE49-F238E27FC236}">
                <a16:creationId xmlns:a16="http://schemas.microsoft.com/office/drawing/2014/main" id="{BEB0161C-7A98-A286-6CAC-5BF5E1819008}"/>
              </a:ext>
            </a:extLst>
          </p:cNvPr>
          <p:cNvSpPr>
            <a:spLocks noGrp="1"/>
          </p:cNvSpPr>
          <p:nvPr>
            <p:ph type="body" idx="1"/>
          </p:nvPr>
        </p:nvSpPr>
        <p:spPr/>
        <p:txBody>
          <a:bodyPr/>
          <a:lstStyle/>
          <a:p>
            <a:endParaRPr lang="it-IT"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Drug Investment Deck — current_project</a:t>
            </a:r>
          </a:p>
        </p:txBody>
      </p:sp>
      <p:sp>
        <p:nvSpPr>
          <p:cNvPr id="3" name="Subtitle 2"/>
          <p:cNvSpPr>
            <a:spLocks noGrp="1"/>
          </p:cNvSpPr>
          <p:nvPr>
            <p:ph type="subTitle"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sz="half"/>
          </p:nvPr>
        </p:nvSpPr>
        <p:spPr/>
        <p:txBody>
          <a:bodyPr/>
          <a:lstStyle/>
          <a:p>
            <a:r>
              <a:t>• Indicates market relevance based on source document.</a:t>
            </a:r>
          </a:p>
          <a:p>
            <a:r>
              <a:t>• Indicates regulation relevance based on source document.</a:t>
            </a:r>
          </a:p>
          <a:p>
            <a:r>
              <a:t>• Indicates operations relevance based on source document.</a:t>
            </a:r>
          </a:p>
          <a:p>
            <a:r>
              <a:t>• Indicates financial relevance based on source document.</a:t>
            </a:r>
          </a:p>
          <a:p>
            <a:r>
              <a:t>• Indicates risk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Overview</a:t>
            </a:r>
          </a:p>
        </p:txBody>
      </p:sp>
      <p:sp>
        <p:nvSpPr>
          <p:cNvPr id="3" name="Content Placeholder 2"/>
          <p:cNvSpPr>
            <a:spLocks noGrp="1"/>
          </p:cNvSpPr>
          <p:nvPr>
            <p:ph idx="1" sz="half"/>
          </p:nvPr>
        </p:nvSpPr>
        <p:spPr/>
        <p:txBody>
          <a:bodyPr/>
          <a:lstStyle/>
          <a:p>
            <a:r>
              <a:t>• EU Drug Market: Cannabis — In-depth analysis</a:t>
            </a:r>
          </a:p>
          <a:p>
            <a:r>
              <a:t>• EU Drug Markets</a:t>
            </a:r>
          </a:p>
          <a:p>
            <a:r>
              <a:t>• 7</a:t>
            </a:r>
          </a:p>
          <a:p>
            <a:r>
              <a:t>• 01</a:t>
            </a:r>
          </a:p>
          <a:p>
            <a:r>
              <a:t>• 16</a:t>
            </a:r>
          </a:p>
        </p:txBody>
      </p:sp>
      <p:sp>
        <p:nvSpPr>
          <p:cNvPr id="4" name="Content Placeholder 3"/>
          <p:cNvSpPr>
            <a:spLocks noGrp="1"/>
          </p:cNvSpPr>
          <p:nvPr>
            <p:ph idx="2" sz="half"/>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Regulatory Environment</a:t>
            </a:r>
          </a:p>
        </p:txBody>
      </p:sp>
      <p:sp>
        <p:nvSpPr>
          <p:cNvPr id="3" name="Content Placeholder 2"/>
          <p:cNvSpPr>
            <a:spLocks noGrp="1"/>
          </p:cNvSpPr>
          <p:nvPr>
            <p:ph idx="1" sz="half"/>
          </p:nvPr>
        </p:nvSpPr>
        <p:spPr/>
        <p:txBody>
          <a:bodyPr/>
          <a:lstStyle/>
          <a:p>
            <a:r>
              <a:t>• 14</a:t>
            </a:r>
          </a:p>
          <a:p>
            <a:r>
              <a:t>• How to start a pharmaceutical company: a comprehensive guide</a:t>
            </a:r>
          </a:p>
          <a:p>
            <a:r>
              <a:t>• Develop your own solution</a:t>
            </a:r>
          </a:p>
          <a:p>
            <a:r>
              <a:t>• At the same time, the industry faces external disruption. First, regulations are expected to become more complex. Second, both large and small competitors are investing heavily in research. Startups alone are attracting significant capital to enable this innovation: from January to May 2024, young biotech and healthcare businesses raised over $5.6bn in venture capital, which will rapidly expand their capabilities.</a:t>
            </a:r>
          </a:p>
          <a:p>
            <a:r>
              <a:t>• Looking back, 2023 proved to be an exciting year of pharmaceutical development. The United States Food and Drug Administration (FDA) approved the highest number of new drugs in history (61), marking a record year in pharmaceutical development.6 Last year saw the first approval for a gene editing treatment and saw weight loss drugs like Wegovy (colloquially referred to as Ozempic) become household names.</a:t>
            </a:r>
          </a:p>
        </p:txBody>
      </p:sp>
      <p:sp>
        <p:nvSpPr>
          <p:cNvPr id="4" name="Content Placeholder 3"/>
          <p:cNvSpPr>
            <a:spLocks noGrp="1"/>
          </p:cNvSpPr>
          <p:nvPr>
            <p:ph idx="2" sz="half"/>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Operations &amp; Manufacturing</a:t>
            </a:r>
          </a:p>
        </p:txBody>
      </p:sp>
      <p:sp>
        <p:nvSpPr>
          <p:cNvPr id="3" name="Content Placeholder 2"/>
          <p:cNvSpPr>
            <a:spLocks noGrp="1"/>
          </p:cNvSpPr>
          <p:nvPr>
            <p:ph idx="1" sz="half"/>
          </p:nvPr>
        </p:nvSpPr>
        <p:spPr/>
        <p:txBody>
          <a:bodyPr/>
          <a:lstStyle/>
          <a:p>
            <a:r>
              <a:t>• The company operates a GMP‑certified manufacturing facility located in eastern France.</a:t>
            </a:r>
          </a:p>
          <a:p>
            <a:r>
              <a:t>• 19</a:t>
            </a:r>
          </a:p>
          <a:p>
            <a:r>
              <a:t>• 13</a:t>
            </a:r>
          </a:p>
          <a:p>
            <a:r>
              <a:t>• Other companies will seek to improve their own cash holdings. Approaches may include selling non-core operations, or development or production facilities, to inject additional funds and reduce running costs. “These are unlikely to be big sell-offs, as many companies have right-sized in recent years, but they may involve divesting the ‘bolt-ons’ that have been added over time,” Yaqub explains. And, as these companies evolve, many will seek to free daily working capital, including through supply-c</a:t>
            </a:r>
          </a:p>
          <a:p>
            <a:r>
              <a:t>• Understanding Biologics</a:t>
            </a:r>
          </a:p>
        </p:txBody>
      </p:sp>
      <p:sp>
        <p:nvSpPr>
          <p:cNvPr id="4" name="Content Placeholder 3"/>
          <p:cNvSpPr>
            <a:spLocks noGrp="1"/>
          </p:cNvSpPr>
          <p:nvPr>
            <p:ph idx="2" sz="half"/>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Overview</a:t>
            </a:r>
          </a:p>
        </p:txBody>
      </p:sp>
      <p:sp>
        <p:nvSpPr>
          <p:cNvPr id="3" name="Text Placeholder 2"/>
          <p:cNvSpPr>
            <a:spLocks noGrp="1"/>
          </p:cNvSpPr>
          <p:nvPr>
            <p:ph type="body" idx="1"/>
          </p:nvPr>
        </p:nvSpPr>
        <p:spPr/>
        <p:txBody>
          <a:bodyPr/>
          <a:lstStyle/>
          <a:p>
            <a:r>
              <a:t>• Why Us?</a:t>
            </a:r>
          </a:p>
          <a:p>
            <a:r>
              <a:t>• Expectations</a:t>
            </a:r>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pic>
        <p:nvPicPr>
          <p:cNvPr id="7" name="Picture 6" descr="revenue.png"/>
          <p:cNvPicPr>
            <a:picLocks noChangeAspect="1"/>
          </p:cNvPicPr>
          <p:nvPr/>
        </p:nvPicPr>
        <p:blipFill>
          <a:blip r:embed="rId2"/>
          <a:stretch>
            <a:fillRect/>
          </a:stretch>
        </p:blipFill>
        <p:spPr>
          <a:xfrm>
            <a:off x="914400" y="1828800"/>
            <a:ext cx="7315200" cy="5486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&amp; Challenges</a:t>
            </a:r>
          </a:p>
        </p:txBody>
      </p:sp>
      <p:sp>
        <p:nvSpPr>
          <p:cNvPr id="3" name="Content Placeholder 2"/>
          <p:cNvSpPr>
            <a:spLocks noGrp="1"/>
          </p:cNvSpPr>
          <p:nvPr>
            <p:ph idx="1" sz="half"/>
          </p:nvPr>
        </p:nvSpPr>
        <p:spPr/>
        <p:txBody>
          <a:bodyPr/>
          <a:lstStyle/>
          <a:p>
            <a:r>
              <a:t>• Understandably some investors might be wary of putting their money to work in the pharmaceutical space because they might lack the specialist medical knowledge required to fully understand the science and evaluate the risks and opportunities in front of individual businesses.</a:t>
            </a:r>
          </a:p>
        </p:txBody>
      </p:sp>
      <p:sp>
        <p:nvSpPr>
          <p:cNvPr id="4" name="Content Placeholder 3"/>
          <p:cNvSpPr>
            <a:spLocks noGrp="1"/>
          </p:cNvSpPr>
          <p:nvPr>
            <p:ph idx="2" sz="half"/>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Projections</a:t>
            </a:r>
          </a:p>
        </p:txBody>
      </p:sp>
      <p:sp>
        <p:nvSpPr>
          <p:cNvPr id="3" name="Text Placeholder 2"/>
          <p:cNvSpPr>
            <a:spLocks noGrp="1"/>
          </p:cNvSpPr>
          <p:nvPr>
            <p:ph type="body" idx="1"/>
          </p:nvPr>
        </p:nvSpPr>
        <p:spPr/>
        <p:txBody>
          <a:bodyPr/>
          <a:lstStyle/>
          <a:p>
            <a:r>
              <a:t>• **Revenue**</a:t>
            </a:r>
          </a:p>
          <a:p>
            <a:r>
              <a:t>• year_1: $1,250,000.0</a:t>
            </a:r>
          </a:p>
          <a:p>
            <a:r>
              <a:t>• year_2: $1,680,000.0</a:t>
            </a:r>
          </a:p>
          <a:p>
            <a:r>
              <a:t>• year_3: $2,250,000.0</a:t>
            </a:r>
          </a:p>
          <a:p>
            <a:r>
              <a:t>• **Ebitda**</a:t>
            </a:r>
          </a:p>
          <a:p>
            <a:r>
              <a:t>• year_1: $250,000.0</a:t>
            </a:r>
          </a:p>
          <a:p>
            <a:r>
              <a:t>• year_2: $420,000.0</a:t>
            </a:r>
          </a:p>
          <a:p>
            <a:r>
              <a:t>• year_3: $630,000.0</a:t>
            </a:r>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pic>
        <p:nvPicPr>
          <p:cNvPr id="7" name="Picture 6" descr="revenue.png"/>
          <p:cNvPicPr>
            <a:picLocks noChangeAspect="1"/>
          </p:cNvPicPr>
          <p:nvPr/>
        </p:nvPicPr>
        <p:blipFill>
          <a:blip r:embed="rId2"/>
          <a:stretch>
            <a:fillRect/>
          </a:stretch>
        </p:blipFill>
        <p:spPr>
          <a:xfrm>
            <a:off x="914400" y="1828800"/>
            <a:ext cx="7315200" cy="54864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Thesis</a:t>
            </a:r>
          </a:p>
        </p:txBody>
      </p:sp>
      <p:sp>
        <p:nvSpPr>
          <p:cNvPr id="3" name="Content Placeholder 2"/>
          <p:cNvSpPr>
            <a:spLocks noGrp="1"/>
          </p:cNvSpPr>
          <p:nvPr>
            <p:ph idx="1" sz="half"/>
          </p:nvPr>
        </p:nvSpPr>
        <p:spPr/>
        <p:txBody>
          <a:bodyPr/>
          <a:lstStyle/>
          <a:p>
            <a:r>
              <a:t>• Indicates market relevance based on source document.</a:t>
            </a:r>
          </a:p>
          <a:p>
            <a:r>
              <a:t>• Indicates regulation relevance based on source document.</a:t>
            </a:r>
          </a:p>
          <a:p>
            <a:r>
              <a:t>• Indicates operations relevance based on source document.</a:t>
            </a:r>
          </a:p>
          <a:p>
            <a:r>
              <a:t>• Indicates financial relevance based on source document.</a:t>
            </a:r>
          </a:p>
          <a:p>
            <a:r>
              <a:t>• Indicates risk relevance based on source document.</a:t>
            </a:r>
          </a:p>
        </p:txBody>
      </p:sp>
      <p:sp>
        <p:nvSpPr>
          <p:cNvPr id="4" name="Content Placeholder 3"/>
          <p:cNvSpPr>
            <a:spLocks noGrp="1"/>
          </p:cNvSpPr>
          <p:nvPr>
            <p:ph idx="2" sz="half"/>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sz="half"/>
          </p:nvPr>
        </p:nvSpPr>
        <p:spPr/>
        <p:txBody>
          <a:bodyPr/>
          <a:lstStyle/>
          <a:p>
            <a:r>
              <a:t>• Conduct detailed regulatory and operational due diligence</a:t>
            </a:r>
          </a:p>
          <a:p>
            <a:r>
              <a:t>• Validate financial assumptions and tender exposure</a:t>
            </a:r>
          </a:p>
          <a:p>
            <a:r>
              <a:t>• Prepare investment committee review</a:t>
            </a:r>
          </a:p>
        </p:txBody>
      </p:sp>
      <p:sp>
        <p:nvSpPr>
          <p:cNvPr id="4" name="Content Placeholder 3"/>
          <p:cNvSpPr>
            <a:spLocks noGrp="1"/>
          </p:cNvSpPr>
          <p:nvPr>
            <p:ph idx="2" sz="half"/>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Document Sources</a:t>
            </a:r>
          </a:p>
        </p:txBody>
      </p:sp>
      <p:sp>
        <p:nvSpPr>
          <p:cNvPr id="3" name="Content Placeholder 2"/>
          <p:cNvSpPr>
            <a:spLocks noGrp="1"/>
          </p:cNvSpPr>
          <p:nvPr>
            <p:ph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sz="half"/>
          </p:nvPr>
        </p:nvSpPr>
        <p:spPr/>
        <p:txBody>
          <a:bodyPr/>
          <a:lstStyle/>
          <a:p>
            <a:r>
              <a:t>• Indicates market relevance based on source document.</a:t>
            </a:r>
          </a:p>
          <a:p>
            <a:r>
              <a:t>• Source: 14543_en.md</a:t>
            </a:r>
          </a:p>
          <a:p>
            <a:r>
              <a:t>• Indicates regulation relevance based on source document.</a:t>
            </a:r>
          </a:p>
          <a:p>
            <a:r>
              <a:t>• Source: EU-Drug-Market-Methamphetamine-2022-FINAL.md</a:t>
            </a:r>
          </a:p>
          <a:p>
            <a:r>
              <a:t>• Indicates operations relevance based on source document.</a:t>
            </a:r>
          </a:p>
          <a:p>
            <a:r>
              <a:t>• Source: Company_Profile_PharmaCo.md</a:t>
            </a:r>
          </a:p>
          <a:p>
            <a:r>
              <a:t>• Indicates financial relevance based on source document.</a:t>
            </a:r>
          </a:p>
          <a:p>
            <a:r>
              <a:t>• Source: Pharmacy Business Plan.md</a:t>
            </a:r>
          </a:p>
          <a:p>
            <a:r>
              <a:t>• Indicates risk relevance based on source document.</a:t>
            </a:r>
          </a:p>
          <a:p>
            <a:r>
              <a:t>• Source: The how and why of investing in the pharmaceutical sector.md</a:t>
            </a:r>
          </a:p>
        </p:txBody>
      </p:sp>
      <p:sp>
        <p:nvSpPr>
          <p:cNvPr id="4" name="Content Placeholder 3"/>
          <p:cNvSpPr>
            <a:spLocks noGrp="1"/>
          </p:cNvSpPr>
          <p:nvPr>
            <p:ph idx="2" sz="half"/>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Overview</a:t>
            </a:r>
          </a:p>
        </p:txBody>
      </p:sp>
      <p:sp>
        <p:nvSpPr>
          <p:cNvPr id="3" name="Content Placeholder 2"/>
          <p:cNvSpPr>
            <a:spLocks noGrp="1"/>
          </p:cNvSpPr>
          <p:nvPr>
            <p:ph idx="1" sz="half"/>
          </p:nvPr>
        </p:nvSpPr>
        <p:spPr/>
        <p:txBody>
          <a:bodyPr/>
          <a:lstStyle/>
          <a:p>
            <a:r>
              <a:t>• EU Drug Market: Cannabis — In-depth analysis</a:t>
            </a:r>
          </a:p>
          <a:p>
            <a:r>
              <a:t>• Source: 14543_en.md</a:t>
            </a:r>
          </a:p>
          <a:p>
            <a:r>
              <a:t>• EU Drug Markets</a:t>
            </a:r>
          </a:p>
          <a:p>
            <a:r>
              <a:t>• Source: 20236197_pdf_td0523510enn_002.md</a:t>
            </a:r>
          </a:p>
          <a:p>
            <a:r>
              <a:t>• 7</a:t>
            </a:r>
          </a:p>
          <a:p>
            <a:r>
              <a:t>• Source: 20236197_pdf_td0523510enn_002.md</a:t>
            </a:r>
          </a:p>
          <a:p>
            <a:r>
              <a:t>• 01</a:t>
            </a:r>
          </a:p>
          <a:p>
            <a:r>
              <a:t>• Source: 20236197_pdf_td0523510enn_002.md</a:t>
            </a:r>
          </a:p>
          <a:p>
            <a:r>
              <a:t>• 16</a:t>
            </a:r>
          </a:p>
          <a:p>
            <a:r>
              <a:t>• Source: 20236197_pdf_td0523510enn_002.md</a:t>
            </a:r>
          </a:p>
        </p:txBody>
      </p:sp>
      <p:sp>
        <p:nvSpPr>
          <p:cNvPr id="4" name="Content Placeholder 3"/>
          <p:cNvSpPr>
            <a:spLocks noGrp="1"/>
          </p:cNvSpPr>
          <p:nvPr>
            <p:ph idx="2" sz="half"/>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Regulatory Environment</a:t>
            </a:r>
          </a:p>
        </p:txBody>
      </p:sp>
      <p:sp>
        <p:nvSpPr>
          <p:cNvPr id="3" name="Content Placeholder 2"/>
          <p:cNvSpPr>
            <a:spLocks noGrp="1"/>
          </p:cNvSpPr>
          <p:nvPr>
            <p:ph idx="1" sz="half"/>
          </p:nvPr>
        </p:nvSpPr>
        <p:spPr/>
        <p:txBody>
          <a:bodyPr/>
          <a:lstStyle/>
          <a:p>
            <a:r>
              <a:t>• 14</a:t>
            </a:r>
          </a:p>
          <a:p>
            <a:r>
              <a:t>• Source: EU-Drug-Market-Methamphetamine-2022-FINAL.md</a:t>
            </a:r>
          </a:p>
          <a:p>
            <a:r>
              <a:t>• How to start a pharmaceutical company: a comprehensive guide</a:t>
            </a:r>
          </a:p>
          <a:p>
            <a:r>
              <a:t>• Source: How to start a pharmaceutical company a comprehensive guide.md</a:t>
            </a:r>
          </a:p>
          <a:p>
            <a:r>
              <a:t>• Develop your own solution</a:t>
            </a:r>
          </a:p>
          <a:p>
            <a:r>
              <a:t>• Source: How to start a pharmaceutical company a comprehensive guide.md</a:t>
            </a:r>
          </a:p>
          <a:p>
            <a:r>
              <a:t>• At the same time, the industry faces external disruption. First, regulations are expected to become more complex. Second, both large and small competitors are investing heavily in research. Startups alone are attracting significant capital to enable this innovation: from January to May 2024, young biotech and healthcare businesses raised over $5.6bn in venture capital, which will rapidly expand their capabilities.</a:t>
            </a:r>
          </a:p>
          <a:p>
            <a:r>
              <a:t>• Source: Investing in pharmaceuticals for the long term.md</a:t>
            </a:r>
          </a:p>
          <a:p>
            <a:r>
              <a:t>• Looking back, 2023 proved to be an exciting year of pharmaceutical development. The United States Food and Drug Administration (FDA) approved the highest number of new drugs in history (61), marking a record year in pharmaceutical development.6 Last year saw the first approval for a gene editing treatment and saw weight loss drugs like Wegovy (colloquially referred to as Ozempic) become household names.</a:t>
            </a:r>
          </a:p>
          <a:p>
            <a:r>
              <a:t>• Source: Marseille articles drogue.md</a:t>
            </a:r>
          </a:p>
        </p:txBody>
      </p:sp>
      <p:sp>
        <p:nvSpPr>
          <p:cNvPr id="4" name="Content Placeholder 3"/>
          <p:cNvSpPr>
            <a:spLocks noGrp="1"/>
          </p:cNvSpPr>
          <p:nvPr>
            <p:ph idx="2" sz="half"/>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Operations &amp; Manufacturing</a:t>
            </a:r>
          </a:p>
        </p:txBody>
      </p:sp>
      <p:sp>
        <p:nvSpPr>
          <p:cNvPr id="3" name="Content Placeholder 2"/>
          <p:cNvSpPr>
            <a:spLocks noGrp="1"/>
          </p:cNvSpPr>
          <p:nvPr>
            <p:ph idx="1" sz="half"/>
          </p:nvPr>
        </p:nvSpPr>
        <p:spPr/>
        <p:txBody>
          <a:bodyPr/>
          <a:lstStyle/>
          <a:p>
            <a:r>
              <a:t>• The company operates a GMP‑certified manufacturing facility located in eastern France.</a:t>
            </a:r>
          </a:p>
          <a:p>
            <a:r>
              <a:t>• Source: Company_Profile_PharmaCo.md</a:t>
            </a:r>
          </a:p>
          <a:p>
            <a:r>
              <a:t>• 19</a:t>
            </a:r>
          </a:p>
          <a:p>
            <a:r>
              <a:t>• Source: EU-Drug-Market-Cocaine-2022-FINAL.md</a:t>
            </a:r>
          </a:p>
          <a:p>
            <a:r>
              <a:t>• 13</a:t>
            </a:r>
          </a:p>
          <a:p>
            <a:r>
              <a:t>• Source: EU-Drug-Market-Methamphetamine-2022-FINAL.md</a:t>
            </a:r>
          </a:p>
          <a:p>
            <a:r>
              <a:t>• Other companies will seek to improve their own cash holdings. Approaches may include selling non-core operations, or development or production facilities, to inject additional funds and reduce running costs. “These are unlikely to be big sell-offs, as many companies have right-sized in recent years, but they may involve divesting the ‘bolt-ons’ that have been added over time,” Yaqub explains. And, as these companies evolve, many will seek to free daily working capital, including through supply-c</a:t>
            </a:r>
          </a:p>
          <a:p>
            <a:r>
              <a:t>• Source: Investing in pharmaceuticals for the long term.md</a:t>
            </a:r>
          </a:p>
          <a:p>
            <a:r>
              <a:t>• Understanding Biologics</a:t>
            </a:r>
          </a:p>
          <a:p>
            <a:r>
              <a:t>• Source: Investing in the Pharmaceutical Industry.md</a:t>
            </a:r>
          </a:p>
        </p:txBody>
      </p:sp>
      <p:sp>
        <p:nvSpPr>
          <p:cNvPr id="4" name="Content Placeholder 3"/>
          <p:cNvSpPr>
            <a:spLocks noGrp="1"/>
          </p:cNvSpPr>
          <p:nvPr>
            <p:ph idx="2" sz="half"/>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Overview</a:t>
            </a:r>
          </a:p>
        </p:txBody>
      </p:sp>
      <p:sp>
        <p:nvSpPr>
          <p:cNvPr id="3" name="Text Placeholder 2"/>
          <p:cNvSpPr>
            <a:spLocks noGrp="1"/>
          </p:cNvSpPr>
          <p:nvPr>
            <p:ph type="body" idx="1"/>
          </p:nvPr>
        </p:nvSpPr>
        <p:spPr/>
        <p:txBody>
          <a:bodyPr/>
          <a:lstStyle/>
          <a:p>
            <a:r>
              <a:t>• Why Us?</a:t>
            </a:r>
          </a:p>
          <a:p>
            <a:r>
              <a:t>• Source: Pharmacy Business Plan.md</a:t>
            </a:r>
          </a:p>
          <a:p>
            <a:r>
              <a:t>• Expectations</a:t>
            </a:r>
          </a:p>
          <a:p>
            <a:r>
              <a:t>• Source: Pharmacy Business Plan.md</a:t>
            </a:r>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pic>
        <p:nvPicPr>
          <p:cNvPr id="7" name="Picture 6" descr="revenue.png"/>
          <p:cNvPicPr>
            <a:picLocks noChangeAspect="1"/>
          </p:cNvPicPr>
          <p:nvPr/>
        </p:nvPicPr>
        <p:blipFill>
          <a:blip r:embed="rId2"/>
          <a:stretch>
            <a:fillRect/>
          </a:stretch>
        </p:blipFill>
        <p:spPr>
          <a:xfrm>
            <a:off x="914400" y="1828800"/>
            <a:ext cx="7315200" cy="54864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&amp; Challenges</a:t>
            </a:r>
          </a:p>
        </p:txBody>
      </p:sp>
      <p:sp>
        <p:nvSpPr>
          <p:cNvPr id="3" name="Content Placeholder 2"/>
          <p:cNvSpPr>
            <a:spLocks noGrp="1"/>
          </p:cNvSpPr>
          <p:nvPr>
            <p:ph idx="1" sz="half"/>
          </p:nvPr>
        </p:nvSpPr>
        <p:spPr/>
        <p:txBody>
          <a:bodyPr/>
          <a:lstStyle/>
          <a:p>
            <a:r>
              <a:t>• Understandably some investors might be wary of putting their money to work in the pharmaceutical space because they might lack the specialist medical knowledge required to fully understand the science and evaluate the risks and opportunities in front of individual businesses.</a:t>
            </a:r>
          </a:p>
          <a:p>
            <a:r>
              <a:t>• Source: The how and why of investing in the pharmaceutical sector.md</a:t>
            </a:r>
          </a:p>
        </p:txBody>
      </p:sp>
      <p:sp>
        <p:nvSpPr>
          <p:cNvPr id="4" name="Content Placeholder 3"/>
          <p:cNvSpPr>
            <a:spLocks noGrp="1"/>
          </p:cNvSpPr>
          <p:nvPr>
            <p:ph idx="2" sz="half"/>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Projections</a:t>
            </a:r>
          </a:p>
        </p:txBody>
      </p:sp>
      <p:sp>
        <p:nvSpPr>
          <p:cNvPr id="3" name="Text Placeholder 2"/>
          <p:cNvSpPr>
            <a:spLocks noGrp="1"/>
          </p:cNvSpPr>
          <p:nvPr>
            <p:ph type="body" idx="1"/>
          </p:nvPr>
        </p:nvSpPr>
        <p:spPr/>
        <p:txBody>
          <a:bodyPr/>
          <a:lstStyle/>
          <a:p>
            <a:r>
              <a:t>• Financial projections derived from internal financial model</a:t>
            </a:r>
          </a:p>
          <a:p>
            <a:r>
              <a:t>• Source: financial/summary.json</a:t>
            </a:r>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pic>
        <p:nvPicPr>
          <p:cNvPr id="7" name="Picture 6" descr="revenue.png"/>
          <p:cNvPicPr>
            <a:picLocks noChangeAspect="1"/>
          </p:cNvPicPr>
          <p:nvPr/>
        </p:nvPicPr>
        <p:blipFill>
          <a:blip r:embed="rId2"/>
          <a:stretch>
            <a:fillRect/>
          </a:stretch>
        </p:blipFill>
        <p:spPr>
          <a:xfrm>
            <a:off x="914400" y="1828800"/>
            <a:ext cx="7315200" cy="54864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Investment Thesis</a:t>
            </a:r>
          </a:p>
        </p:txBody>
      </p:sp>
      <p:sp>
        <p:nvSpPr>
          <p:cNvPr id="3" name="Content Placeholder 2"/>
          <p:cNvSpPr>
            <a:spLocks noGrp="1"/>
          </p:cNvSpPr>
          <p:nvPr>
            <p:ph idx="1" sz="half"/>
          </p:nvPr>
        </p:nvSpPr>
        <p:spPr/>
        <p:txBody>
          <a:bodyPr/>
          <a:lstStyle/>
          <a:p>
            <a:r>
              <a:t>• Indicates market relevance based on source document.</a:t>
            </a:r>
          </a:p>
          <a:p>
            <a:r>
              <a:t>• Source: 14543_en.md</a:t>
            </a:r>
          </a:p>
          <a:p>
            <a:r>
              <a:t>• Indicates regulation relevance based on source document.</a:t>
            </a:r>
          </a:p>
          <a:p>
            <a:r>
              <a:t>• Source: EU-Drug-Market-Methamphetamine-2022-FINAL.md</a:t>
            </a:r>
          </a:p>
          <a:p>
            <a:r>
              <a:t>• Indicates operations relevance based on source document.</a:t>
            </a:r>
          </a:p>
          <a:p>
            <a:r>
              <a:t>• Source: Company_Profile_PharmaCo.md</a:t>
            </a:r>
          </a:p>
          <a:p>
            <a:r>
              <a:t>• Indicates financial relevance based on source document.</a:t>
            </a:r>
          </a:p>
          <a:p>
            <a:r>
              <a:t>• Source: Pharmacy Business Plan.md</a:t>
            </a:r>
          </a:p>
          <a:p>
            <a:r>
              <a:t>• Indicates risk relevance based on source document.</a:t>
            </a:r>
          </a:p>
          <a:p>
            <a:r>
              <a:t>• Source: The how and why of investing in the pharmaceutical sector.md</a:t>
            </a:r>
          </a:p>
          <a:p>
            <a:r>
              <a:t>• ---</a:t>
            </a:r>
          </a:p>
          <a:p>
            <a:r>
              <a:t>• *This deck is generated from uploaded documents.*</a:t>
            </a:r>
          </a:p>
          <a:p>
            <a:r>
              <a:t>• *Main slides are narrative‑focused; full traceability is provided in the appendix.*</a:t>
            </a:r>
          </a:p>
        </p:txBody>
      </p:sp>
      <p:sp>
        <p:nvSpPr>
          <p:cNvPr id="4" name="Content Placeholder 3"/>
          <p:cNvSpPr>
            <a:spLocks noGrp="1"/>
          </p:cNvSpPr>
          <p:nvPr>
            <p:ph idx="2" sz="half"/>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18</Words>
  <Application>Microsoft Office PowerPoint</Application>
  <PresentationFormat>On-screen Show (4:3)</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 Display</vt:lpstr>
      <vt:lpstr>Arial</vt:lpstr>
      <vt:lpstr>Calibri</vt:lpstr>
      <vt:lpstr>Wingdings</vt:lpstr>
      <vt:lpstr>Office Theme</vt:lpstr>
      <vt:lpstr>TITLE SLIDE</vt:lpstr>
      <vt:lpstr>SECTION HEADER</vt:lpstr>
      <vt:lpstr>CONTENT TITLE</vt:lpstr>
      <vt:lpstr>FINANCIAL OVERVIEW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nambo yang</cp:lastModifiedBy>
  <cp:revision>8</cp:revision>
  <dcterms:created xsi:type="dcterms:W3CDTF">2013-01-27T09:14:16Z</dcterms:created>
  <dcterms:modified xsi:type="dcterms:W3CDTF">2026-01-12T09:11:12Z</dcterms:modified>
  <cp:category/>
</cp:coreProperties>
</file>