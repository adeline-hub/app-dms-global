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4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normAutofit/>
          </a:bodyPr>
          <a:lstStyle>
            <a:lvl1pPr>
              <a:defRPr sz="4000">
                <a:solidFill>
                  <a:schemeClr val="tx1">
                    <a:lumMod val="50000"/>
                    <a:lumOff val="50000"/>
                  </a:schemeClr>
                </a:solidFill>
                <a:latin typeface="Aptos Display" panose="020B00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buFont typeface="Wingdings" panose="05000000000000000000" pitchFamily="2" charset="2"/>
              <a:buChar char="§"/>
              <a:defRPr sz="1800">
                <a:solidFill>
                  <a:schemeClr val="tx1">
                    <a:lumMod val="50000"/>
                    <a:lumOff val="50000"/>
                  </a:schemeClr>
                </a:solidFill>
              </a:defRPr>
            </a:lvl1pPr>
            <a:lvl2pPr>
              <a:buFont typeface="Wingdings" panose="05000000000000000000" pitchFamily="2" charset="2"/>
              <a:buChar char="§"/>
              <a:defRPr sz="1600">
                <a:solidFill>
                  <a:schemeClr val="tx1">
                    <a:lumMod val="50000"/>
                    <a:lumOff val="50000"/>
                  </a:schemeClr>
                </a:solidFill>
              </a:defRPr>
            </a:lvl2pPr>
            <a:lvl3pPr>
              <a:buFont typeface="Wingdings" panose="05000000000000000000" pitchFamily="2" charset="2"/>
              <a:buChar char="§"/>
              <a:defRPr sz="1400">
                <a:solidFill>
                  <a:schemeClr val="tx1">
                    <a:lumMod val="50000"/>
                    <a:lumOff val="50000"/>
                  </a:schemeClr>
                </a:solidFill>
              </a:defRPr>
            </a:lvl3pPr>
            <a:lvl4pPr>
              <a:buFont typeface="Wingdings" panose="05000000000000000000" pitchFamily="2" charset="2"/>
              <a:buChar char="§"/>
              <a:defRPr sz="1200">
                <a:solidFill>
                  <a:schemeClr val="tx1">
                    <a:lumMod val="50000"/>
                    <a:lumOff val="50000"/>
                  </a:schemeClr>
                </a:solidFill>
              </a:defRPr>
            </a:lvl4pPr>
            <a:lvl5pPr>
              <a:buFont typeface="Wingdings" panose="05000000000000000000" pitchFamily="2" charset="2"/>
              <a:buChar char="§"/>
              <a:defRPr sz="1200">
                <a:solidFill>
                  <a:schemeClr val="tx1">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buFont typeface="+mj-lt"/>
              <a:buAutoNum type="arabicPeriod"/>
              <a:defRPr sz="1800">
                <a:solidFill>
                  <a:schemeClr val="tx1">
                    <a:lumMod val="50000"/>
                    <a:lumOff val="50000"/>
                  </a:schemeClr>
                </a:solidFill>
              </a:defRPr>
            </a:lvl1pPr>
            <a:lvl2pPr>
              <a:buFont typeface="+mj-lt"/>
              <a:buAutoNum type="arabicPeriod"/>
              <a:defRPr sz="1600">
                <a:solidFill>
                  <a:schemeClr val="tx1">
                    <a:lumMod val="50000"/>
                    <a:lumOff val="50000"/>
                  </a:schemeClr>
                </a:solidFill>
              </a:defRPr>
            </a:lvl2pPr>
            <a:lvl3pPr>
              <a:buFont typeface="+mj-lt"/>
              <a:buAutoNum type="arabicPeriod"/>
              <a:defRPr sz="1400">
                <a:solidFill>
                  <a:schemeClr val="tx1">
                    <a:lumMod val="50000"/>
                    <a:lumOff val="50000"/>
                  </a:schemeClr>
                </a:solidFill>
              </a:defRPr>
            </a:lvl3pPr>
            <a:lvl4pPr>
              <a:buFont typeface="+mj-lt"/>
              <a:buAutoNum type="arabicPeriod"/>
              <a:defRPr sz="1200">
                <a:solidFill>
                  <a:schemeClr val="tx1">
                    <a:lumMod val="50000"/>
                    <a:lumOff val="50000"/>
                  </a:schemeClr>
                </a:solidFill>
              </a:defRPr>
            </a:lvl4pPr>
            <a:lvl5pPr>
              <a:buFont typeface="+mj-lt"/>
              <a:buAutoNum type="arabicPeriod"/>
              <a:defRPr sz="1200">
                <a:solidFill>
                  <a:schemeClr val="tx1">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F86FFDA0-CB7D-019A-4F4E-342FDA2C89D4}"/>
              </a:ext>
            </a:extLst>
          </p:cNvPr>
          <p:cNvPicPr>
            <a:picLocks noChangeAspect="1"/>
          </p:cNvPicPr>
          <p:nvPr userDrawn="1"/>
        </p:nvPicPr>
        <p:blipFill>
          <a:blip r:embed="rId13"/>
          <a:stretch>
            <a:fillRect/>
          </a:stretch>
        </p:blipFill>
        <p:spPr>
          <a:xfrm>
            <a:off x="4000500" y="6356350"/>
            <a:ext cx="1143000" cy="428625"/>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000" kern="1200">
          <a:solidFill>
            <a:schemeClr val="tx1">
              <a:lumMod val="50000"/>
              <a:lumOff val="50000"/>
            </a:schemeClr>
          </a:solidFill>
          <a:latin typeface="+mj-lt"/>
          <a:ea typeface="+mj-ea"/>
          <a:cs typeface="+mj-cs"/>
        </a:defRPr>
      </a:lvl1pPr>
    </p:titleStyle>
    <p:bodyStyle>
      <a:lvl1pPr marL="0" indent="0" algn="l" defTabSz="457200" rtl="0" eaLnBrk="1" latinLnBrk="0" hangingPunct="1">
        <a:spcBef>
          <a:spcPct val="20000"/>
        </a:spcBef>
        <a:buFont typeface="Wingdings" panose="05000000000000000000" pitchFamily="2" charset="2"/>
        <a:buNone/>
        <a:defRPr sz="2000" kern="1200">
          <a:solidFill>
            <a:schemeClr val="tx1">
              <a:lumMod val="50000"/>
              <a:lumOff val="50000"/>
            </a:schemeClr>
          </a:solidFill>
          <a:latin typeface="+mn-lt"/>
          <a:ea typeface="+mn-ea"/>
          <a:cs typeface="+mn-cs"/>
        </a:defRPr>
      </a:lvl1pPr>
      <a:lvl2pPr marL="457200" indent="0" algn="l" defTabSz="457200" rtl="0" eaLnBrk="1" latinLnBrk="0" hangingPunct="1">
        <a:spcBef>
          <a:spcPct val="20000"/>
        </a:spcBef>
        <a:buFont typeface="Wingdings" panose="05000000000000000000" pitchFamily="2" charset="2"/>
        <a:buNone/>
        <a:defRPr sz="1800" kern="1200">
          <a:solidFill>
            <a:schemeClr val="tx1">
              <a:lumMod val="50000"/>
              <a:lumOff val="50000"/>
            </a:schemeClr>
          </a:solidFill>
          <a:latin typeface="+mn-lt"/>
          <a:ea typeface="+mn-ea"/>
          <a:cs typeface="+mn-cs"/>
        </a:defRPr>
      </a:lvl2pPr>
      <a:lvl3pPr marL="914400" indent="0" algn="l" defTabSz="457200" rtl="0" eaLnBrk="1" latinLnBrk="0" hangingPunct="1">
        <a:spcBef>
          <a:spcPct val="20000"/>
        </a:spcBef>
        <a:buFont typeface="Wingdings" panose="05000000000000000000" pitchFamily="2" charset="2"/>
        <a:buNone/>
        <a:defRPr sz="1600" kern="1200">
          <a:solidFill>
            <a:schemeClr val="tx1">
              <a:lumMod val="50000"/>
              <a:lumOff val="50000"/>
            </a:schemeClr>
          </a:solidFill>
          <a:latin typeface="+mn-lt"/>
          <a:ea typeface="+mn-ea"/>
          <a:cs typeface="+mn-cs"/>
        </a:defRPr>
      </a:lvl3pPr>
      <a:lvl4pPr marL="1371600" indent="0" algn="l" defTabSz="457200" rtl="0" eaLnBrk="1" latinLnBrk="0" hangingPunct="1">
        <a:spcBef>
          <a:spcPct val="20000"/>
        </a:spcBef>
        <a:buFont typeface="Wingdings" panose="05000000000000000000" pitchFamily="2" charset="2"/>
        <a:buNone/>
        <a:defRPr sz="1400" kern="1200">
          <a:solidFill>
            <a:schemeClr val="tx1">
              <a:lumMod val="50000"/>
              <a:lumOff val="50000"/>
            </a:schemeClr>
          </a:solidFill>
          <a:latin typeface="+mn-lt"/>
          <a:ea typeface="+mn-ea"/>
          <a:cs typeface="+mn-cs"/>
        </a:defRPr>
      </a:lvl4pPr>
      <a:lvl5pPr marL="1828800" indent="0" algn="l" defTabSz="457200" rtl="0" eaLnBrk="1" latinLnBrk="0" hangingPunct="1">
        <a:spcBef>
          <a:spcPct val="20000"/>
        </a:spcBef>
        <a:buFont typeface="Wingdings" panose="05000000000000000000" pitchFamily="2" charset="2"/>
        <a:buNone/>
        <a:defRPr sz="1400" kern="1200">
          <a:solidFill>
            <a:schemeClr val="tx1">
              <a:lumMod val="50000"/>
              <a:lumOff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TITLE SLIDE</a:t>
            </a:r>
          </a:p>
        </p:txBody>
      </p:sp>
      <p:sp>
        <p:nvSpPr>
          <p:cNvPr id="3" name="Subtitle 2"/>
          <p:cNvSpPr>
            <a:spLocks noGrp="1"/>
          </p:cNvSpPr>
          <p:nvPr>
            <p:ph type="subTitle" idx="1"/>
          </p:nvPr>
        </p:nvSpPr>
        <p:spPr/>
        <p:txBody>
          <a:bodyPr/>
          <a:lstStyle/>
          <a:p>
            <a:r>
              <a:t>Subtitle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HEADER</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TITLE</a:t>
            </a:r>
          </a:p>
        </p:txBody>
      </p:sp>
      <p:sp>
        <p:nvSpPr>
          <p:cNvPr id="3" name="Content Placeholder 2"/>
          <p:cNvSpPr>
            <a:spLocks noGrp="1"/>
          </p:cNvSpPr>
          <p:nvPr>
            <p:ph sz="half" idx="1"/>
          </p:nvPr>
        </p:nvSpPr>
        <p:spPr>
          <a:xfrm>
            <a:off x="457200" y="1600200"/>
            <a:ext cx="8229600" cy="4525963"/>
          </a:xfrm>
        </p:spPr>
        <p:txBody>
          <a:bodyPr/>
          <a:lstStyle/>
          <a:p>
            <a:pPr marL="0" indent="0">
              <a:buNone/>
            </a:pPr>
            <a:r>
              <a:rPr dirty="0"/>
              <a:t>Bullet point 1</a:t>
            </a:r>
          </a:p>
          <a:p>
            <a:pPr marL="0" indent="0">
              <a:buNone/>
            </a:pPr>
            <a:r>
              <a:rPr dirty="0"/>
              <a:t>Bullet point 2</a:t>
            </a:r>
          </a:p>
          <a:p>
            <a:pPr marL="0" indent="0">
              <a:buNone/>
            </a:pPr>
            <a:r>
              <a:rPr dirty="0"/>
              <a:t>Bullet point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OVERVIEW</a:t>
            </a:r>
          </a:p>
        </p:txBody>
      </p:sp>
      <p:sp>
        <p:nvSpPr>
          <p:cNvPr id="4" name="Content Placeholder 3"/>
          <p:cNvSpPr>
            <a:spLocks noGrp="1"/>
          </p:cNvSpPr>
          <p:nvPr>
            <p:ph sz="half" idx="2"/>
          </p:nvPr>
        </p:nvSpPr>
        <p:spPr/>
        <p:txBody>
          <a:bodyPr/>
          <a:lstStyle/>
          <a:p>
            <a:endParaRPr dirty="0"/>
          </a:p>
        </p:txBody>
      </p:sp>
      <p:sp>
        <p:nvSpPr>
          <p:cNvPr id="5" name="Text Placeholder 4"/>
          <p:cNvSpPr>
            <a:spLocks noGrp="1"/>
          </p:cNvSpPr>
          <p:nvPr>
            <p:ph type="body" sz="quarter" idx="3"/>
          </p:nvPr>
        </p:nvSpPr>
        <p:spPr/>
        <p:txBody>
          <a:bodyPr>
            <a:normAutofit/>
          </a:bodyPr>
          <a:lstStyle/>
          <a:p>
            <a:endParaRPr dirty="0"/>
          </a:p>
        </p:txBody>
      </p:sp>
      <p:sp>
        <p:nvSpPr>
          <p:cNvPr id="6" name="Content Placeholder 5"/>
          <p:cNvSpPr>
            <a:spLocks noGrp="1"/>
          </p:cNvSpPr>
          <p:nvPr>
            <p:ph sz="quarter" idx="4"/>
          </p:nvPr>
        </p:nvSpPr>
        <p:spPr/>
        <p:txBody>
          <a:bodyPr/>
          <a:lstStyle/>
          <a:p>
            <a:endParaRPr dirty="0"/>
          </a:p>
        </p:txBody>
      </p:sp>
      <p:sp>
        <p:nvSpPr>
          <p:cNvPr id="8" name="Text Placeholder 7">
            <a:extLst>
              <a:ext uri="{FF2B5EF4-FFF2-40B4-BE49-F238E27FC236}">
                <a16:creationId xmlns:a16="http://schemas.microsoft.com/office/drawing/2014/main" id="{BEB0161C-7A98-A286-6CAC-5BF5E1819008}"/>
              </a:ext>
            </a:extLst>
          </p:cNvPr>
          <p:cNvSpPr>
            <a:spLocks noGrp="1"/>
          </p:cNvSpPr>
          <p:nvPr>
            <p:ph type="body" idx="1"/>
          </p:nvPr>
        </p:nvSpPr>
        <p:spPr/>
        <p:txBody>
          <a:bodyPr/>
          <a:lstStyle/>
          <a:p>
            <a:endParaRPr lang="it-IT"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Drug Investment Deck</a:t>
            </a:r>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sz="half"/>
          </p:nvPr>
        </p:nvSpPr>
        <p:spPr/>
        <p:txBody>
          <a:bodyPr/>
          <a:lstStyle/>
          <a:p>
            <a:r>
              <a:t>• **Project:** current_project</a:t>
            </a:r>
          </a:p>
          <a:p>
            <a:r>
              <a:t>• **Sector:** Drug</a:t>
            </a:r>
          </a:p>
          <a:p>
            <a:r>
              <a:t>• **Territory:** Europe</a:t>
            </a:r>
          </a:p>
          <a:p>
            <a:r>
              <a:t>• **Status:** Generated from comprehensive pipeline analysis</a:t>
            </a:r>
          </a:p>
        </p:txBody>
      </p:sp>
      <p:sp>
        <p:nvSpPr>
          <p:cNvPr id="4" name="Content Placeholder 3"/>
          <p:cNvSpPr>
            <a:spLocks noGrp="1"/>
          </p:cNvSpPr>
          <p:nvPr>
            <p:ph idx="2" sz="half"/>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sz="half"/>
          </p:nvPr>
        </p:nvSpPr>
        <p:spPr/>
        <p:txBody>
          <a:bodyPr/>
          <a:lstStyle/>
          <a:p>
            <a:r>
              <a:t>• This investment deck presents an opportunity in the **Drug** sector with operations in **Europe**. The analysis is based on uploaded documents, market research, and financial projections.</a:t>
            </a:r>
          </a:p>
        </p:txBody>
      </p:sp>
      <p:sp>
        <p:nvSpPr>
          <p:cNvPr id="4" name="Content Placeholder 3"/>
          <p:cNvSpPr>
            <a:spLocks noGrp="1"/>
          </p:cNvSpPr>
          <p:nvPr>
            <p:ph idx="2" sz="half"/>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Insights from Uploaded Documents</a:t>
            </a: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14543_en.md</a:t>
            </a:r>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14543_en.md</a:t>
            </a:r>
          </a:p>
          <a:p>
            <a:r>
              <a:t>• Excerpt: "EU Drug Market: Cannabis — In-depth analysis</a:t>
            </a:r>
          </a:p>
          <a:p>
            <a:r>
              <a:t>• ‘EU Drug Market: Cannabis’ describes the European cannabis market from</a:t>
            </a:r>
          </a:p>
          <a:p>
            <a:r>
              <a:t>• production and trafficking, to distribution and use. It details the processes,</a:t>
            </a:r>
          </a:p>
          <a:p>
            <a:r>
              <a:t>• materials and players involved at different stages and levels of the market. The</a:t>
            </a:r>
          </a:p>
          <a:p>
            <a:r>
              <a:t>• module takes a threat assessment approach, identifying key issues and defining</a:t>
            </a:r>
          </a:p>
          <a:p>
            <a:r>
              <a:t>• recommendations for action at EU and Member State level.</a:t>
            </a:r>
          </a:p>
          <a:p>
            <a:r>
              <a:t>• This resource is a module of EU Drug Markets: In-depth analysis, the fourth comprehensiv"</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20236197_pdf_td0523510enn_002.md</a:t>
            </a:r>
          </a:p>
        </p:txBody>
      </p:sp>
      <p:sp>
        <p:nvSpPr>
          <p:cNvPr id="3" name="Content Placeholder 2"/>
          <p:cNvSpPr>
            <a:spLocks noGrp="1"/>
          </p:cNvSpPr>
          <p:nvPr>
            <p:ph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20236197_pdf_td0523510enn_002.md</a:t>
            </a:r>
          </a:p>
          <a:p>
            <a:r>
              <a:t>• Excerpt: "EU Drug Markets</a:t>
            </a:r>
          </a:p>
          <a:p>
            <a:r>
              <a:t>• Analysis 2024</a:t>
            </a:r>
          </a:p>
          <a:p>
            <a:r>
              <a:t>• Key insights for policy and practice</a:t>
            </a:r>
          </a:p>
          <a:p>
            <a:r>
              <a:t>• Legal notice</a:t>
            </a:r>
          </a:p>
          <a:p>
            <a:r>
              <a:t>• Neither the European Monitoring Centre for Drugs and Drug Addiction (EMCDDA), Europol nor</a:t>
            </a:r>
          </a:p>
          <a:p>
            <a:r>
              <a:t>• any person acting on behalf of the EMCDDA or Europol is responsible for the use that might be</a:t>
            </a:r>
          </a:p>
          <a:p>
            <a:r>
              <a:t>• made of the following information.</a:t>
            </a:r>
          </a:p>
          <a:p>
            <a:r>
              <a:t>• More information on the European Union is available on the internet ( https://europa.eu).</a:t>
            </a:r>
          </a:p>
          <a:p>
            <a:r>
              <a:t>• Luxembourg: Publications Office of the European Union, 2024</a:t>
            </a:r>
          </a:p>
          <a:p>
            <a:r>
              <a:t>• PDF  ISBN 978-92-9497-961-2  doi:10.2810/137611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20236197_pdf_td0523510enn_002.md</a:t>
            </a:r>
          </a:p>
          <a:p>
            <a:r>
              <a:t>• Excerpt: "7</a:t>
            </a:r>
          </a:p>
          <a:p>
            <a:r>
              <a:t>• The constantly evolving and multifaceted drug market</a:t>
            </a:r>
          </a:p>
          <a:p>
            <a:r>
              <a:t>• demands a multi-pronged approach, involving law</a:t>
            </a:r>
          </a:p>
          <a:p>
            <a:r>
              <a:t>• enforcement, public health, education and international</a:t>
            </a:r>
          </a:p>
          <a:p>
            <a:r>
              <a:t>• cooperation. Recognising the global interconnectedness</a:t>
            </a:r>
          </a:p>
          <a:p>
            <a:r>
              <a:t>• of markets and criminal actors is crucial to developing</a:t>
            </a:r>
          </a:p>
          <a:p>
            <a:r>
              <a:t>• effective responses to address current and future</a:t>
            </a:r>
          </a:p>
          <a:p>
            <a:r>
              <a:t>• threats, as developments in other parts of the world</a:t>
            </a:r>
          </a:p>
          <a:p>
            <a:r>
              <a:t>• will continue to influence the EU drug markets.</a:t>
            </a:r>
          </a:p>
          <a:p>
            <a:r>
              <a:t>• These complexities underscore the need for robust</a:t>
            </a:r>
          </a:p>
          <a:p>
            <a:r>
              <a:t>• responses, as brough"</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20236197_pdf_td0523510enn_002.md</a:t>
            </a:r>
          </a:p>
          <a:p>
            <a:r>
              <a:t>• Excerpt: "01</a:t>
            </a:r>
          </a:p>
          <a:p>
            <a:r>
              <a:t>• Current landscape</a:t>
            </a:r>
          </a:p>
          <a:p>
            <a:r>
              <a:t>• and key threats</a:t>
            </a:r>
          </a:p>
          <a:p>
            <a:r>
              <a:t>• This section presents key insights from the current</a:t>
            </a:r>
          </a:p>
          <a:p>
            <a:r>
              <a:t>• analysis of EU drug markets, covering the range</a:t>
            </a:r>
          </a:p>
          <a:p>
            <a:r>
              <a:t>• of market dynamics, geopolitical factors, criminal</a:t>
            </a:r>
          </a:p>
          <a:p>
            <a:r>
              <a:t>• operations and socioeconomic consequences.</a:t>
            </a:r>
          </a:p>
          <a:p>
            <a:r>
              <a:t>• The latest data and analysis show a large, complex</a:t>
            </a:r>
          </a:p>
          <a:p>
            <a:r>
              <a:t>• and constantly evolving EU drug market (Figure 1).</a:t>
            </a:r>
          </a:p>
          <a:p>
            <a:r>
              <a:t>• 10</a:t>
            </a:r>
          </a:p>
          <a:p>
            <a:r>
              <a:t>• EU Drug Markets Analysis: Key insights for policy and practice</a:t>
            </a:r>
          </a:p>
          <a:p>
            <a:r>
              <a:t>• EU drug market :</a:t>
            </a:r>
          </a:p>
          <a:p>
            <a:r>
              <a:t>• significant financial</a:t>
            </a:r>
          </a:p>
          <a:p>
            <a:r>
              <a:t>• impact</a:t>
            </a:r>
          </a:p>
          <a:p>
            <a:r>
              <a:t>• Based on 2021 data, the EU drug market is 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20236197_pdf_td0523510enn_002.md</a:t>
            </a:r>
          </a:p>
          <a:p>
            <a:r>
              <a:t>• Excerpt: "16</a:t>
            </a:r>
          </a:p>
          <a:p>
            <a:r>
              <a:t>• EU Drug Markets Analysis: Key insights for policy and practice</a:t>
            </a:r>
          </a:p>
          <a:p>
            <a:r>
              <a:t>• Interplay between</a:t>
            </a:r>
          </a:p>
          <a:p>
            <a:r>
              <a:t>• licit and illicit</a:t>
            </a:r>
          </a:p>
          <a:p>
            <a:r>
              <a:t>• markets: adding a</a:t>
            </a:r>
          </a:p>
          <a:p>
            <a:r>
              <a:t>• layer of complexity</a:t>
            </a:r>
          </a:p>
          <a:p>
            <a:r>
              <a:t>• Illicit drug markets and the regular economy intersect</a:t>
            </a:r>
          </a:p>
          <a:p>
            <a:r>
              <a:t>• in numerous and significant ways. For example, criminals</a:t>
            </a:r>
          </a:p>
          <a:p>
            <a:r>
              <a:t>• exploit the commercial transport infrastructure to traffic</a:t>
            </a:r>
          </a:p>
          <a:p>
            <a:r>
              <a:t>• drugs and they use loopholes in legislation to access</a:t>
            </a:r>
          </a:p>
          <a:p>
            <a:r>
              <a:t>• chemicals for illicit drug production. These intersections</a:t>
            </a:r>
          </a:p>
          <a:p>
            <a:r>
              <a:t>• are also visible on the cannabis and opioid markets,</a:t>
            </a:r>
          </a:p>
          <a:p>
            <a:r>
              <a:t>• where some pr"</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20236197_pdf_td0523510enn_002.md</a:t>
            </a:r>
          </a:p>
          <a:p>
            <a:r>
              <a:t>• Excerpt: "17</a:t>
            </a:r>
          </a:p>
          <a:p>
            <a:r>
              <a:t>• Current landscape and key threats</a:t>
            </a:r>
          </a:p>
          <a:p>
            <a:r>
              <a:t>• Extreme violence:</a:t>
            </a:r>
          </a:p>
          <a:p>
            <a:r>
              <a:t>• putting a strain on</a:t>
            </a:r>
          </a:p>
          <a:p>
            <a:r>
              <a:t>• local communities</a:t>
            </a:r>
          </a:p>
          <a:p>
            <a:r>
              <a:t>• and society</a:t>
            </a:r>
          </a:p>
          <a:p>
            <a:r>
              <a:t>• Some EU Member States are experiencing</a:t>
            </a:r>
          </a:p>
          <a:p>
            <a:r>
              <a:t>• unprecedented levels of drug market-related</a:t>
            </a:r>
          </a:p>
          <a:p>
            <a:r>
              <a:t>• violence, often related to the cocaine and cannabis</a:t>
            </a:r>
          </a:p>
          <a:p>
            <a:r>
              <a:t>• markets. This appears to be concentrated in distribution</a:t>
            </a:r>
          </a:p>
          <a:p>
            <a:r>
              <a:t>• hubs and in competitive retail markets. Such violence</a:t>
            </a:r>
          </a:p>
          <a:p>
            <a:r>
              <a:t>• includes killings, torture, kidnappings and intimidation,</a:t>
            </a:r>
          </a:p>
          <a:p>
            <a:r>
              <a:t>• and often takes place between criminal networks,</a:t>
            </a:r>
          </a:p>
          <a:p>
            <a:r>
              <a:t>• although innocent people are al"</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2025-edmr-nps-full-pdf-31800-book.md</a:t>
            </a:r>
          </a:p>
        </p:txBody>
      </p:sp>
      <p:sp>
        <p:nvSpPr>
          <p:cNvPr id="3" name="Content Placeholder 2"/>
          <p:cNvSpPr>
            <a:spLocks noGrp="1"/>
          </p:cNvSpPr>
          <p:nvPr>
            <p:ph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2025-edmr-nps-full-pdf-31800-book.md</a:t>
            </a:r>
          </a:p>
          <a:p>
            <a:r>
              <a:t>• Excerpt: "Table of contents</a:t>
            </a:r>
          </a:p>
          <a:p>
            <a:r>
              <a:t>• EU Drug Market: New</a:t>
            </a:r>
          </a:p>
          <a:p>
            <a:r>
              <a:t>• psychoactive substances —</a:t>
            </a:r>
          </a:p>
          <a:p>
            <a:r>
              <a:t>• In-depth analysis</a:t>
            </a:r>
          </a:p>
          <a:p>
            <a:r>
              <a:t>• EU Drug Market: New psychoactive substances — In-depth analysis</a:t>
            </a:r>
          </a:p>
          <a:p>
            <a:r>
              <a:t>• This PDF was generated automatically on 21/05/2025 from the web page located at this address:</a:t>
            </a:r>
          </a:p>
          <a:p>
            <a:r>
              <a:t>• https://euda.europa.eu/publications/eu-drug-markets/new-psychoactive-substances. Some errors</a:t>
            </a:r>
          </a:p>
          <a:p>
            <a:r>
              <a:t>• may have occurred during this process. For the authoritative and most recent version, we</a:t>
            </a:r>
          </a:p>
          <a:p>
            <a:r>
              <a:t>• recommend consulting the web page.</a:t>
            </a:r>
          </a:p>
          <a:p>
            <a:r>
              <a:t>• 1 -</a:t>
            </a:r>
          </a:p>
          <a:p>
            <a:r>
              <a:t>• EU Drug Market: New psychoactive subs"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31233_en.md</a:t>
            </a:r>
          </a:p>
        </p:txBody>
      </p:sp>
      <p:sp>
        <p:nvSpPr>
          <p:cNvPr id="3" name="Content Placeholder 2"/>
          <p:cNvSpPr>
            <a:spLocks noGrp="1"/>
          </p:cNvSpPr>
          <p:nvPr>
            <p:ph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31233_en.md</a:t>
            </a:r>
          </a:p>
          <a:p>
            <a:r>
              <a:t>• Excerpt: "EU Drug Market: Amphetamine — Criminal</a:t>
            </a:r>
          </a:p>
          <a:p>
            <a:r>
              <a:t>• networks</a:t>
            </a:r>
          </a:p>
          <a:p>
            <a:r>
              <a:t>• This resource is part of EU Drug Market: Amphetamine — In-depth analysis by the EMCDDA and Europol.</a:t>
            </a:r>
          </a:p>
          <a:p>
            <a:r>
              <a:t>• 1 -</a:t>
            </a:r>
          </a:p>
          <a:p>
            <a:r>
              <a:t>• 2 -</a:t>
            </a:r>
          </a:p>
          <a:p>
            <a:r>
              <a:t>• 3 -</a:t>
            </a:r>
          </a:p>
          <a:p>
            <a:r>
              <a:t>• 4 -</a:t>
            </a:r>
          </a:p>
          <a:p>
            <a:r>
              <a:t>• 5 -</a:t>
            </a:r>
          </a:p>
          <a:p>
            <a:r>
              <a:t>• Last update: October 2023</a:t>
            </a:r>
          </a:p>
          <a:p>
            <a:r>
              <a:t>• 6 -</a:t>
            </a:r>
          </a:p>
          <a:p>
            <a:r>
              <a:t>• Criminal networks involved in the illicit amphetamine trade, from production to distribution in the EU, are</a:t>
            </a:r>
          </a:p>
          <a:p>
            <a:r>
              <a:t>• business-oriented, cooperative and adaptable. In some instances, they use each other’s resources and</a:t>
            </a:r>
          </a:p>
          <a:p>
            <a:r>
              <a:t>• infrastructure, or participate in joint criminal ventures, providing investment,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Company_Profile_PharmaCo.md</a:t>
            </a:r>
          </a:p>
        </p:txBody>
      </p:sp>
      <p:sp>
        <p:nvSpPr>
          <p:cNvPr id="3" name="Content Placeholder 2"/>
          <p:cNvSpPr>
            <a:spLocks noGrp="1"/>
          </p:cNvSpPr>
          <p:nvPr>
            <p:ph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Company_Profile_PharmaCo.md</a:t>
            </a:r>
          </a:p>
          <a:p>
            <a:r>
              <a:t>• Excerpt: "The European hospital injectable drugs market is estimated at over €18 billion annually.</a:t>
            </a:r>
          </a:p>
          <a:p>
            <a:r>
              <a:t>• Demand for generic injectables has increased due to cost‑containment policies adopted</a:t>
            </a:r>
          </a:p>
          <a:p>
            <a:r>
              <a:t>• by public health authorities and hospital procurement agencies. Hospital buyers increasingly</a:t>
            </a:r>
          </a:p>
          <a:p>
            <a:r>
              <a:t>• favor suppliers capable of ensuring consistent supply and regulatory compliance."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Company_Profile_PharmaCo.md</a:t>
            </a:r>
          </a:p>
          <a:p>
            <a:r>
              <a:t>• Excerpt: "Competition in the injectable generics segment is fragmented, with more than 40 suppliers</a:t>
            </a:r>
          </a:p>
          <a:p>
            <a:r>
              <a:t>• operating across the EU. However, frequent supply disruptions have created opportunities</a:t>
            </a:r>
          </a:p>
          <a:p>
            <a:r>
              <a:t>• for manufacturers with vertically integrated production capabilities."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Company_Profile_PharmaCo.md</a:t>
            </a:r>
          </a:p>
          <a:p>
            <a:r>
              <a:t>• Excerpt: "PharmaCo SAS operates in a highly regulated environment. All products must obtain</a:t>
            </a:r>
          </a:p>
          <a:p>
            <a:r>
              <a:t>• marketing authorization from the European Medicines Agency or national competent</a:t>
            </a:r>
          </a:p>
          <a:p>
            <a:r>
              <a:t>• authorities prior to commercialization. Manufacturing facilities are subject to regular</a:t>
            </a:r>
          </a:p>
          <a:p>
            <a:r>
              <a:t>• Good Manufacturing Practice (GMP) inspections."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Company_Profile_PharmaCo.md</a:t>
            </a:r>
          </a:p>
          <a:p>
            <a:r>
              <a:t>• Excerpt: "Recent regulatory tightening has increased compliance costs but has also raised entry</a:t>
            </a:r>
          </a:p>
          <a:p>
            <a:r>
              <a:t>• barriers for new market entrants. Management believes regulatory expertise represents</a:t>
            </a:r>
          </a:p>
          <a:p>
            <a:r>
              <a:t>• a competitive advantage."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Company_Profile_PharmaCo.md</a:t>
            </a:r>
          </a:p>
          <a:p>
            <a:r>
              <a:t>• Excerpt: "The company operates a GMP‑certified manufacturing facility located in eastern France.</a:t>
            </a:r>
          </a:p>
          <a:p>
            <a:r>
              <a:t>• The site includes sterile injectable production lines and in‑house quality control laboratories.</a:t>
            </a:r>
          </a:p>
          <a:p>
            <a:r>
              <a:t>• Vertical integration allows the company to control production schedules and reduce</a:t>
            </a:r>
          </a:p>
          <a:p>
            <a:r>
              <a:t>• dependency on third‑party contract manufacturers."</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EU-Drug-Market-Cocaine-2022-FINAL.md</a:t>
            </a:r>
          </a:p>
        </p:txBody>
      </p:sp>
      <p:sp>
        <p:nvSpPr>
          <p:cNvPr id="3" name="Content Placeholder 2"/>
          <p:cNvSpPr>
            <a:spLocks noGrp="1"/>
          </p:cNvSpPr>
          <p:nvPr>
            <p:ph idx="1"/>
          </p:nvPr>
        </p:nvSpPr>
        <p:spPr/>
        <p:txBody>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EU-Drug-Market-Cocaine-2022-FINAL.md</a:t>
            </a:r>
          </a:p>
          <a:p>
            <a:r>
              <a:t>• Excerpt: "‘EU Drug Market: Cocaine’ describes the European cocaine market from production</a:t>
            </a:r>
          </a:p>
          <a:p>
            <a:r>
              <a:t>• and trafficking, to distribution and use. It details the processes, materials and players</a:t>
            </a:r>
          </a:p>
          <a:p>
            <a:r>
              <a:t>• involved at different stages and levels of the market. The module takes a threat</a:t>
            </a:r>
          </a:p>
          <a:p>
            <a:r>
              <a:t>• assessment approach, identifying key issues and defining recommendations for</a:t>
            </a:r>
          </a:p>
          <a:p>
            <a:r>
              <a:t>• action at EU and Member State level.</a:t>
            </a:r>
          </a:p>
          <a:p>
            <a:r>
              <a:t>• This resource is a module of EU Drug Markets: In-depth analysis, the fourth</a:t>
            </a:r>
          </a:p>
          <a:p>
            <a:r>
              <a:t>• comprehensive overv"</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EU-Drug-Market-Cocaine-2022-FINAL.md</a:t>
            </a:r>
          </a:p>
          <a:p>
            <a:r>
              <a:t>• Excerpt: "15</a:t>
            </a:r>
          </a:p>
          <a:p>
            <a:r>
              <a:t>• Recent evidence from the Cocaine Signature Program (CSP) of the US Drug Enforcement</a:t>
            </a:r>
          </a:p>
          <a:p>
            <a:r>
              <a:t>• Administration (DEA) has highlighted a new trend in cocaine production related to ethyl</a:t>
            </a:r>
          </a:p>
          <a:p>
            <a:r>
              <a:t>• acetate that supports the mounting evidence that significant quantities of cocaine</a:t>
            </a:r>
          </a:p>
          <a:p>
            <a:r>
              <a:t>• hydrochloride are produced in Europe.</a:t>
            </a:r>
          </a:p>
          <a:p>
            <a:r>
              <a:t>• According to DEA analysis, the ‘clean ethyl acetate processing’ method is mainly associated</a:t>
            </a:r>
          </a:p>
          <a:p>
            <a:r>
              <a:t>• with cocaine samples seized in Europe that have been manufactured from coca leaves</a:t>
            </a:r>
          </a:p>
          <a:p>
            <a:r>
              <a:t>• originating from Bol"</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EU-Drug-Market-Cocaine-2022-FINAL.md</a:t>
            </a:r>
          </a:p>
          <a:p>
            <a:r>
              <a:t>• Excerpt: "19</a:t>
            </a:r>
          </a:p>
          <a:p>
            <a:r>
              <a:t>• Profiling European cocaine</a:t>
            </a:r>
          </a:p>
          <a:p>
            <a:r>
              <a:t>• The Cocaine Signature Program (CSP) run by the US Drug Enforcement</a:t>
            </a:r>
          </a:p>
          <a:p>
            <a:r>
              <a:t>• Administration (DEA), performs in-depth chemical analyses on samples of cocaine</a:t>
            </a:r>
          </a:p>
          <a:p>
            <a:r>
              <a:t>• hydrochloride obtained from bulk seizures. While it is primarily focused on seizures</a:t>
            </a:r>
          </a:p>
          <a:p>
            <a:r>
              <a:t>• made in the United States, a smaller number of samples seized in Europe are also</a:t>
            </a:r>
          </a:p>
          <a:p>
            <a:r>
              <a:t>• analysed. The testing provides extremely accurate (97 % confidence level) evidence</a:t>
            </a:r>
          </a:p>
          <a:p>
            <a:r>
              <a:t>• of the geographical origin of the coca leaf used for processing i"</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EU-Drug-Market-Cocaine-2022-FINAL.md</a:t>
            </a:r>
          </a:p>
          <a:p>
            <a:r>
              <a:t>• Excerpt: "22</a:t>
            </a:r>
          </a:p>
          <a:p>
            <a:r>
              <a:t>• Environmental impact of coca cultivation, cocaine production and</a:t>
            </a:r>
          </a:p>
          <a:p>
            <a:r>
              <a:t>• trafficking</a:t>
            </a:r>
          </a:p>
          <a:p>
            <a:r>
              <a:t>• The environmental harms caused by coca cultivation, cocaine production and</a:t>
            </a:r>
          </a:p>
          <a:p>
            <a:r>
              <a:t>• trafficking are multifaceted. The link between coca cultivation and deforestation is</a:t>
            </a:r>
          </a:p>
          <a:p>
            <a:r>
              <a:t>• complex and influenced by a number of factors, such as conflict, poverty and</a:t>
            </a:r>
          </a:p>
          <a:p>
            <a:r>
              <a:t>• insecurity, and past development projects (Dávalos, 2018; Dávalos et al., 2016;</a:t>
            </a:r>
          </a:p>
          <a:p>
            <a:r>
              <a:t>• Negret et al., 2019). Fundamentally, removing vegetation from a patch of land in</a:t>
            </a:r>
          </a:p>
          <a:p>
            <a:r>
              <a:t>• order to cul"</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EU-Drug-Market-Cocaine-2022-FINAL.md</a:t>
            </a:r>
          </a:p>
          <a:p>
            <a:r>
              <a:t>• Excerpt: "24</a:t>
            </a:r>
          </a:p>
          <a:p>
            <a:r>
              <a:t>• Global quantity of cocaine seized, breakdown by country, 2019</a:t>
            </a:r>
          </a:p>
          <a:p>
            <a:r>
              <a:t>• Source: World drug report 2021, Booklet 4 - Drug market trends: Cocaine, Amphetamine-type stimulants,</a:t>
            </a:r>
          </a:p>
          <a:p>
            <a:r>
              <a:t>• UNODC, Vienna. The source data for this graphic is available in the source table on t his page.</a:t>
            </a:r>
          </a:p>
          <a:p>
            <a:r>
              <a:t>• Trafficking cocaine to Europe</a:t>
            </a:r>
          </a:p>
          <a:p>
            <a:r>
              <a:t>• The intensification and diversification of cocaine trafficking activities targeting the EU</a:t>
            </a:r>
          </a:p>
          <a:p>
            <a:r>
              <a:t>• have continued since the last EU Drug Markets Report (EMCDDA and Europol,</a:t>
            </a:r>
          </a:p>
          <a:p>
            <a:r>
              <a:t>• 2019). Record levels of cocaine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EU-Drug-Market-Methamphetamine-2022-FINAL.md</a:t>
            </a:r>
          </a:p>
        </p:txBody>
      </p:sp>
      <p:sp>
        <p:nvSpPr>
          <p:cNvPr id="3" name="Content Placeholder 2"/>
          <p:cNvSpPr>
            <a:spLocks noGrp="1"/>
          </p:cNvSpPr>
          <p:nvPr>
            <p:ph idx="1"/>
          </p:nvPr>
        </p:nvSpPr>
        <p:spPr/>
        <p:txBody>
          <a:bodyP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EU-Drug-Market-Methamphetamine-2022-FINAL.md</a:t>
            </a:r>
          </a:p>
          <a:p>
            <a:r>
              <a:t>• Excerpt: "‘EU Drug Market: Methamphetamine’ describes the European methamphetamine</a:t>
            </a:r>
          </a:p>
          <a:p>
            <a:r>
              <a:t>• market from production and trafficking, to distribution and use. It details the</a:t>
            </a:r>
          </a:p>
          <a:p>
            <a:r>
              <a:t>• processes, materials and players involved at different stages and levels of the</a:t>
            </a:r>
          </a:p>
          <a:p>
            <a:r>
              <a:t>• market. The module takes a threat assessment approach, identifying the key issues</a:t>
            </a:r>
          </a:p>
          <a:p>
            <a:r>
              <a:t>• and defining recommendations for action at EU and Member State level.</a:t>
            </a:r>
          </a:p>
          <a:p>
            <a:r>
              <a:t>• This resource is a module of EU Drug Markets: In-depth analysis, the fourth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EU-Drug-Market-Methamphetamine-2022-FINAL.md</a:t>
            </a:r>
          </a:p>
          <a:p>
            <a:r>
              <a:t>• Excerpt: "9</a:t>
            </a:r>
          </a:p>
          <a:p>
            <a:r>
              <a:t>• Almost all (95 %) of the 24 000 illicit synthetic drug laboratories reported to the</a:t>
            </a:r>
          </a:p>
          <a:p>
            <a:r>
              <a:t>• UNODC between 2015 and 2019 were related to methamphetamine, with 43</a:t>
            </a:r>
          </a:p>
          <a:p>
            <a:r>
              <a:t>• countries reporting such facilities (UNODC, 2021). The trends show that while</a:t>
            </a:r>
          </a:p>
          <a:p>
            <a:r>
              <a:t>• seizures have been increasing, the number of laboratories dismantled has been</a:t>
            </a:r>
          </a:p>
          <a:p>
            <a:r>
              <a:t>• decreasing, suggesting that fewer laboratories with higher production capacity may</a:t>
            </a:r>
          </a:p>
          <a:p>
            <a:r>
              <a:t>• now be more common. The manufacturing process has become increasingly</a:t>
            </a:r>
          </a:p>
          <a:p>
            <a:r>
              <a:t>• complex due to changes in c"</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EU-Drug-Market-Methamphetamine-2022-FINAL.md</a:t>
            </a:r>
          </a:p>
          <a:p>
            <a:r>
              <a:t>• Excerpt: "11</a:t>
            </a:r>
          </a:p>
          <a:p>
            <a:r>
              <a:t>• The source data for this graphic is available in the source table on this page.</a:t>
            </a:r>
          </a:p>
          <a:p>
            <a:r>
              <a:t>• Seizures: long-term trend points to creeping market</a:t>
            </a:r>
          </a:p>
          <a:p>
            <a:r>
              <a:t>• expansion</a:t>
            </a:r>
          </a:p>
          <a:p>
            <a:r>
              <a:t>• From 2010 to 2020, the number of methamphetamine seizures reported in the EU</a:t>
            </a:r>
          </a:p>
          <a:p>
            <a:r>
              <a:t>• increased by almost 107 % and the quantities seized increased by 477 % (1) (see</a:t>
            </a:r>
          </a:p>
          <a:p>
            <a:r>
              <a:t>• Figures Number and quantity of methamphetamine seizures). In 2019, EU Member</a:t>
            </a:r>
          </a:p>
          <a:p>
            <a:r>
              <a:t>• States reported 6 500 seizures of methamphetamine amounting to 3.5 tonnes, up</a:t>
            </a:r>
          </a:p>
          <a:p>
            <a:r>
              <a:t>• from 0.5 tonnes in 2018. In 2020,"</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EU-Drug-Market-Methamphetamine-2022-FINAL.md</a:t>
            </a:r>
          </a:p>
          <a:p>
            <a:r>
              <a:t>• Excerpt: "13</a:t>
            </a:r>
          </a:p>
          <a:p>
            <a:r>
              <a:t>• Quantity of methamphetamine seized, EU27, Norway and Turkey, 2010-2020</a:t>
            </a:r>
          </a:p>
          <a:p>
            <a:r>
              <a:t>• Source: The source data for this graphic is available in the source table on this page.</a:t>
            </a:r>
          </a:p>
          <a:p>
            <a:r>
              <a:t>• Dutch and Mexican collaboration: sharing expertise drives</a:t>
            </a:r>
          </a:p>
          <a:p>
            <a:r>
              <a:t>• production to industrial scale</a:t>
            </a:r>
          </a:p>
          <a:p>
            <a:r>
              <a:t>• The production of methamphetamine in the Netherlands appears to have increased</a:t>
            </a:r>
          </a:p>
          <a:p>
            <a:r>
              <a:t>• sharply in recent years, with the number of large-scale production facilities</a:t>
            </a:r>
          </a:p>
          <a:p>
            <a:r>
              <a:t>• dismantled rising from 5 in 2017 to 32 in 2020, according to the Dutch police (se"</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Regulation</a:t>
            </a:r>
          </a:p>
          <a:p>
            <a:r>
              <a:t>• Source: EU-Drug-Market-Methamphetamine-2022-FINAL.md</a:t>
            </a:r>
          </a:p>
          <a:p>
            <a:r>
              <a:t>• Excerpt: "14</a:t>
            </a:r>
          </a:p>
          <a:p>
            <a:r>
              <a:t>• Methamphetamine laboratories dismantled in the Netherlands, 2017-2020</a:t>
            </a:r>
          </a:p>
          <a:p>
            <a:r>
              <a:t>• Source: Dutch National Police. The source data for this graphic is available in the source table on this page.</a:t>
            </a:r>
          </a:p>
          <a:p>
            <a:r>
              <a:t>• There is evidence indicating that Dutch criminal networks are switching to the</a:t>
            </a:r>
          </a:p>
          <a:p>
            <a:r>
              <a:t>• production of methamphetamine because profits are higher than for amphetamine</a:t>
            </a:r>
          </a:p>
          <a:p>
            <a:r>
              <a:t>• and MDMA. For example, the wholesale price per kilogram of amphetamine paste</a:t>
            </a:r>
          </a:p>
          <a:p>
            <a:r>
              <a:t>• and MDMA was EUR 740 and EUR 1 350, respectively in 2019, while</a:t>
            </a:r>
          </a:p>
          <a:p>
            <a:r>
              <a:t>• methamp"</a:t>
            </a:r>
          </a:p>
          <a:p>
            <a:r>
              <a:t>• Implication: Indicates regulation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How to start a pharmaceutical company a comprehensive guide.md</a:t>
            </a:r>
          </a:p>
        </p:txBody>
      </p:sp>
      <p:sp>
        <p:nvSpPr>
          <p:cNvPr id="3" name="Content Placeholder 2"/>
          <p:cNvSpPr>
            <a:spLocks noGrp="1"/>
          </p:cNvSpPr>
          <p:nvPr>
            <p:ph idx="1"/>
          </p:nvPr>
        </p:nvSpPr>
        <p:spPr/>
        <p:txBody>
          <a:bodyP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Regulation</a:t>
            </a:r>
          </a:p>
          <a:p>
            <a:r>
              <a:t>• Source: How to start a pharmaceutical company a comprehensive guide.md</a:t>
            </a:r>
          </a:p>
          <a:p>
            <a:r>
              <a:t>• Excerpt: "How to start a pharmaceutical company: a comprehensive guide</a:t>
            </a:r>
          </a:p>
          <a:p>
            <a:r>
              <a:t>• Starting a business in the pharmaceutical industry requires careful planning, an understanding of strict regulations, and significant investments."</a:t>
            </a:r>
          </a:p>
          <a:p>
            <a:r>
              <a:t>• Implication: Indicates regulation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Regulation</a:t>
            </a:r>
          </a:p>
          <a:p>
            <a:r>
              <a:t>• Source: How to start a pharmaceutical company a comprehensive guide.md</a:t>
            </a:r>
          </a:p>
          <a:p>
            <a:r>
              <a:t>• Excerpt: "Develop your own solution</a:t>
            </a:r>
          </a:p>
          <a:p>
            <a:r>
              <a:t>• Steps to starting a pharmaceutical company.</a:t>
            </a:r>
          </a:p>
          <a:p>
            <a:r>
              <a:t>• Table of contents</a:t>
            </a:r>
          </a:p>
          <a:p>
            <a:r>
              <a:t>• 1. Steps to start a pharmaceutical company</a:t>
            </a:r>
          </a:p>
          <a:p>
            <a:r>
              <a:t>• 2. Choice of products and technologies</a:t>
            </a:r>
          </a:p>
          <a:p>
            <a:r>
              <a:t>• 3. Financing and business plan</a:t>
            </a:r>
          </a:p>
          <a:p>
            <a:r>
              <a:t>• 4. The standards and certifications to comply with</a:t>
            </a:r>
          </a:p>
          <a:p>
            <a:r>
              <a:t>• 5. Infrastructure and production</a:t>
            </a:r>
          </a:p>
          <a:p>
            <a:r>
              <a:t>• Starting a business in the pharmaceutical industry requires careful planning, an understanding of strict regulations, and significant investments."</a:t>
            </a:r>
          </a:p>
          <a:p>
            <a:r>
              <a:t>• Implication: Indicates regulation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How to start a pharmaceutical company a comprehensive guide.md</a:t>
            </a:r>
          </a:p>
          <a:p>
            <a:r>
              <a:t>• Excerpt: "1. Steps to start a pharmaceutical company</a:t>
            </a:r>
          </a:p>
          <a:p>
            <a:r>
              <a:t>• a. Market study</a:t>
            </a:r>
          </a:p>
          <a:p>
            <a:r>
              <a:t>• The first step in starting a pharmaceutical company is to conduct a thorough market study, identifying unmet needs in the industry and assessing the competition. Market segmentation will help you focus on specific areas such as pharmaceuticals, dietary supplements, or biotechnologies."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How to start a pharmaceutical company a comprehensive guide.md</a:t>
            </a:r>
          </a:p>
          <a:p>
            <a:r>
              <a:t>• Excerpt: "b. Strategic planning</a:t>
            </a:r>
          </a:p>
          <a:p>
            <a:r>
              <a:t>• Once the market study has been completed, the next step is to define your objective and the strategy to achieve it. Will you focus on generic drugs with cost-efficient production, or on highly innovative products requiring significant R&amp;D investments ? These are two distinct approaches that will shape your decisions regarding technologies, equipment, and industrial partnerships."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How to start a pharmaceutical company a comprehensive guide.md</a:t>
            </a:r>
          </a:p>
          <a:p>
            <a:r>
              <a:t>• Excerpt: "Explore how our double-tip drinkable ampoules can elevate your projects: request our brochure today!</a:t>
            </a:r>
          </a:p>
          <a:p>
            <a:r>
              <a:t>• Email address*</a:t>
            </a:r>
          </a:p>
          <a:p>
            <a:r>
              <a:t>• Privacy* By submitting this form, I agree that the information provided may be used to contact me regarding the request indicated in this form. No other processing of my information will take place.</a:t>
            </a:r>
          </a:p>
          <a:p>
            <a:r>
              <a:t>• Learn more about our privacy policy</a:t>
            </a:r>
          </a:p>
          <a:p>
            <a:r>
              <a:t>• c. Choice of segment</a:t>
            </a:r>
          </a:p>
          <a:p>
            <a:r>
              <a:t>• Patented drugs require significant investments in R&amp;D and clinical trials. Although they are less expensive to develop, generic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Investing in Pharmaceutical Stocks.md</a:t>
            </a:r>
          </a:p>
        </p:txBody>
      </p:sp>
      <p:sp>
        <p:nvSpPr>
          <p:cNvPr id="3" name="Content Placeholder 2"/>
          <p:cNvSpPr>
            <a:spLocks noGrp="1"/>
          </p:cNvSpPr>
          <p:nvPr>
            <p:ph idx="1"/>
          </p:nvPr>
        </p:nvSpPr>
        <p:spPr/>
        <p:txBody>
          <a:bodyPr/>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 Stocks.md</a:t>
            </a:r>
          </a:p>
          <a:p>
            <a:r>
              <a:t>• Excerpt: "Now, it’s worth noting Stock Advisor’s total average return is 968% — a market-crushing outperformance compared to 197% for the S&amp;P 500. Don't miss the latest top 10 list, available with Stock Advisor, and join an investing community built by individual investors for individual investors."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 Stocks.md</a:t>
            </a:r>
          </a:p>
          <a:p>
            <a:r>
              <a:t>• Excerpt: "S&amp;P 500</a:t>
            </a:r>
          </a:p>
          <a:p>
            <a:r>
              <a:t>• 6,966.28</a:t>
            </a:r>
          </a:p>
          <a:p>
            <a:r>
              <a:t>• +0.6%</a:t>
            </a:r>
          </a:p>
          <a:p>
            <a:r>
              <a:t>• +44.82</a:t>
            </a:r>
          </a:p>
          <a:p>
            <a:r>
              <a:t>• DJI</a:t>
            </a:r>
          </a:p>
          <a:p>
            <a:r>
              <a:t>• 49,504.07</a:t>
            </a:r>
          </a:p>
          <a:p>
            <a:r>
              <a:t>• +0.5%</a:t>
            </a:r>
          </a:p>
          <a:p>
            <a:r>
              <a:t>• +237.96</a:t>
            </a:r>
          </a:p>
          <a:p>
            <a:r>
              <a:t>• NASDAQ</a:t>
            </a:r>
          </a:p>
          <a:p>
            <a:r>
              <a:t>• 23,671.35</a:t>
            </a:r>
          </a:p>
          <a:p>
            <a:r>
              <a:t>• +0.8%</a:t>
            </a:r>
          </a:p>
          <a:p>
            <a:r>
              <a:t>• +191.33</a:t>
            </a:r>
          </a:p>
          <a:p>
            <a:r>
              <a:t>• Bitcoin</a:t>
            </a:r>
          </a:p>
          <a:p>
            <a:r>
              <a:t>• $90,508.00</a:t>
            </a:r>
          </a:p>
          <a:p>
            <a:r>
              <a:t>• +0.2%</a:t>
            </a:r>
          </a:p>
          <a:p>
            <a:r>
              <a:t>• +$168.65</a:t>
            </a:r>
          </a:p>
          <a:p>
            <a:r>
              <a:t>• APLD</a:t>
            </a:r>
          </a:p>
          <a:p>
            <a:r>
              <a:t>• $37.68</a:t>
            </a:r>
          </a:p>
          <a:p>
            <a:r>
              <a:t>• +18.0%</a:t>
            </a:r>
          </a:p>
          <a:p>
            <a:r>
              <a:t>• +$5.74</a:t>
            </a:r>
          </a:p>
          <a:p>
            <a:r>
              <a:t>• BLDR</a:t>
            </a:r>
          </a:p>
          <a:p>
            <a:r>
              <a:t>• $124.66</a:t>
            </a:r>
          </a:p>
          <a:p>
            <a:r>
              <a:t>• +12.0%</a:t>
            </a:r>
          </a:p>
          <a:p>
            <a:r>
              <a:t>• +$13.37</a:t>
            </a:r>
          </a:p>
          <a:p>
            <a:r>
              <a:t>• AMC</a:t>
            </a:r>
          </a:p>
          <a:p>
            <a:r>
              <a:t>• $1.64</a:t>
            </a:r>
          </a:p>
          <a:p>
            <a:r>
              <a:t>• +13.1%</a:t>
            </a:r>
          </a:p>
          <a:p>
            <a:r>
              <a:t>• +$0.19</a:t>
            </a:r>
          </a:p>
          <a:p>
            <a:r>
              <a:t>• INTC</a:t>
            </a:r>
          </a:p>
          <a:p>
            <a:r>
              <a:t>• $45.55</a:t>
            </a:r>
          </a:p>
          <a:p>
            <a:r>
              <a:t>• +10.8%</a:t>
            </a:r>
          </a:p>
          <a:p>
            <a:r>
              <a:t>• +$4.44</a:t>
            </a:r>
          </a:p>
          <a:p>
            <a:r>
              <a:t>• OKLO</a:t>
            </a:r>
          </a:p>
          <a:p>
            <a:r>
              <a:t>• $105.31</a:t>
            </a:r>
          </a:p>
          <a:p>
            <a:r>
              <a:t>• +7.9%</a:t>
            </a:r>
          </a:p>
          <a:p>
            <a:r>
              <a:t>• +$7.71</a:t>
            </a:r>
          </a:p>
          <a:p>
            <a:r>
              <a:t>• ASTS</a:t>
            </a:r>
          </a:p>
          <a:p>
            <a:r>
              <a:t>• $97.67</a:t>
            </a:r>
          </a:p>
          <a:p>
            <a:r>
              <a:t>• +7.9%</a:t>
            </a:r>
          </a:p>
          <a:p>
            <a:r>
              <a:t>• +$7.11</a:t>
            </a:r>
          </a:p>
          <a:p>
            <a:r>
              <a:t>• AMZN</a:t>
            </a:r>
          </a:p>
          <a:p>
            <a:r>
              <a:t>• $247.52</a:t>
            </a:r>
          </a:p>
          <a:p>
            <a:r>
              <a:t>• +0.5%</a:t>
            </a:r>
          </a:p>
          <a:p>
            <a:r>
              <a:t>• +$1.23</a:t>
            </a:r>
          </a:p>
          <a:p>
            <a:r>
              <a:t>• GOOG</a:t>
            </a:r>
          </a:p>
          <a:p>
            <a:r>
              <a:t>• $329.43</a:t>
            </a:r>
          </a:p>
          <a:p>
            <a:r>
              <a:t>• +1.0%</a:t>
            </a:r>
          </a:p>
          <a:p>
            <a:r>
              <a:t>• +$3.42</a:t>
            </a:r>
          </a:p>
          <a:p>
            <a:r>
              <a:t>• META</a:t>
            </a:r>
          </a:p>
          <a:p>
            <a:r>
              <a:t>• $653.49</a:t>
            </a:r>
          </a:p>
          <a:p>
            <a:r>
              <a:t>• +1.1%</a:t>
            </a:r>
          </a:p>
          <a:p>
            <a:r>
              <a:t>• +$7.43</a:t>
            </a:r>
          </a:p>
          <a:p>
            <a:r>
              <a:t>• MSFT</a:t>
            </a:r>
          </a:p>
          <a:p>
            <a:r>
              <a:t>• $479.53</a:t>
            </a:r>
          </a:p>
          <a:p>
            <a:r>
              <a:t>• +0.3%</a:t>
            </a:r>
          </a:p>
          <a:p>
            <a:r>
              <a:t>• +$1.42</a:t>
            </a:r>
          </a:p>
          <a:p>
            <a:r>
              <a:t>• NVDA</a:t>
            </a:r>
          </a:p>
          <a:p>
            <a:r>
              <a:t>• $184.95</a:t>
            </a:r>
          </a:p>
          <a:p>
            <a:r>
              <a:t>• -0.0%</a:t>
            </a:r>
          </a:p>
          <a:p>
            <a:r>
              <a:t>• -$0.09</a:t>
            </a:r>
          </a:p>
          <a:p>
            <a:r>
              <a:t>• TSLA</a:t>
            </a:r>
          </a:p>
          <a:p>
            <a:r>
              <a:t>• $445.01</a:t>
            </a:r>
          </a:p>
          <a:p>
            <a:r>
              <a:t>• +2.1%</a:t>
            </a:r>
          </a:p>
          <a:p>
            <a:r>
              <a:t>• +$9.21</a:t>
            </a:r>
          </a:p>
          <a:p>
            <a:r>
              <a:t>• Daily Stock Gainers</a:t>
            </a:r>
          </a:p>
          <a:p>
            <a:r>
              <a:t>• Daily Stock Losers</a:t>
            </a:r>
          </a:p>
          <a:p>
            <a:r>
              <a:t>• Most Active Stocks</a:t>
            </a:r>
          </a:p>
          <a:p>
            <a:r>
              <a:t>• Home</a:t>
            </a:r>
          </a:p>
          <a:p>
            <a:r>
              <a:t>• &gt;</a:t>
            </a:r>
          </a:p>
          <a:p>
            <a:r>
              <a:t>• I"</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 Stocks.md</a:t>
            </a:r>
          </a:p>
          <a:p>
            <a:r>
              <a:t>• Excerpt: "Share</a:t>
            </a:r>
          </a:p>
          <a:p>
            <a:r>
              <a:t>• Follow</a:t>
            </a:r>
          </a:p>
          <a:p>
            <a:r>
              <a:t>• Key Points</a:t>
            </a:r>
          </a:p>
          <a:p>
            <a:r>
              <a:t>• The global pharmaceutical market is valued at $1.7 trillion, offering lucrative investment prospects.</a:t>
            </a:r>
          </a:p>
          <a:p>
            <a:r>
              <a:t>• Choosing the right pharmaceutical stocks involves evaluating consistent revenue growth and robust pipelines.</a:t>
            </a:r>
          </a:p>
          <a:p>
            <a:r>
              <a:t>• Top pharmaceutical picks include AbbVie, Eli Lilly, Johnson &amp; Johnson, and Pfizer; each offers strong dividends.</a:t>
            </a:r>
          </a:p>
          <a:p>
            <a:r>
              <a:t>• Should you buy Pfizer? ›</a:t>
            </a:r>
          </a:p>
          <a:p>
            <a:r>
              <a:t>• Jump to:"</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 Stocks.md</a:t>
            </a:r>
          </a:p>
          <a:p>
            <a:r>
              <a:t>• Excerpt: "Four stocks to buy right now</a:t>
            </a:r>
          </a:p>
          <a:p>
            <a:r>
              <a:t>• The global pharmaceutical market totals roughly $1.7 trillion and continues to grow. This huge sector improves the quality of life for many people while creating attractive opportunities for long-term investors."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 Stocks.md</a:t>
            </a:r>
          </a:p>
          <a:p>
            <a:r>
              <a:t>• Excerpt: "Ticker Information Table</a:t>
            </a:r>
          </a:p>
          <a:p>
            <a:r>
              <a:t>• Name and ticker	Market cap	Dividend yield	Industry</a:t>
            </a:r>
          </a:p>
          <a:p>
            <a:r>
              <a:t>• AbbVie (NYSE:ABBV)	$389.0 billion	2.98%	Biotechnology</a:t>
            </a:r>
          </a:p>
          <a:p>
            <a:r>
              <a:t>• Eli Lilly (NYSE:LLY)	$1.0 trillion	0.56%	Pharmaceuticals</a:t>
            </a:r>
          </a:p>
          <a:p>
            <a:r>
              <a:t>• Johnson &amp; Johnson (NYSE:JNJ)	$492.4 billion	2.51%	Pharmaceuticals</a:t>
            </a:r>
          </a:p>
          <a:p>
            <a:r>
              <a:t>• Pfizer (NYSE:PFE)	$144.9 billion	6.75%	Pharmaceuticals</a:t>
            </a:r>
          </a:p>
          <a:p>
            <a:r>
              <a:t>• Data as of Jan 11, 2026.</a:t>
            </a:r>
          </a:p>
          <a:p>
            <a:r>
              <a:t>• 1. AbbVie"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Investing in pharmaceuticals for the long term.md</a:t>
            </a:r>
          </a:p>
        </p:txBody>
      </p:sp>
      <p:sp>
        <p:nvSpPr>
          <p:cNvPr id="3" name="Content Placeholder 2"/>
          <p:cNvSpPr>
            <a:spLocks noGrp="1"/>
          </p:cNvSpPr>
          <p:nvPr>
            <p:ph idx="1"/>
          </p:nvPr>
        </p:nvSpPr>
        <p:spPr/>
        <p:txBody>
          <a:bodyPr/>
          <a:lstStyle/>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pharmaceuticals for the long term.md</a:t>
            </a:r>
          </a:p>
          <a:p>
            <a:r>
              <a:t>• Excerpt: "Investing in pharmaceuticals for the long term</a:t>
            </a:r>
          </a:p>
          <a:p>
            <a:r>
              <a:t>• Pharmaceutical companies face growing debt costs, expiring patents, protracted development cycles and industry disruption. Fresh consideration of investment could reignite growth</a:t>
            </a:r>
          </a:p>
          <a:p>
            <a:r>
              <a:t>• As 2025 approaches, established pharmaceutical giants are confronted with some tough challenges. The first is their capacity to invest: high interest rates have made debt expensive. After years of debt-driven acquisitions, some pharma companies have also been marginally dow"</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pharmaceuticals for the long term.md</a:t>
            </a:r>
          </a:p>
          <a:p>
            <a:r>
              <a:t>• Excerpt: "Business model challenges abound, too. Several “blockbuster” drug patents are set to expire this decade, yet commercialising new medicines is an ever lengthier process. “It can now take up to 15 years to bring a new medicine to market, as the science and the manufacturing are so complex,” explains Alix Mackay, Director of Pharma Business Development at the innovation consultancy CPI. “The challenge is not only a drug’s therapeutic potential, but also its commercial and financial viability.”"</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Regulation</a:t>
            </a:r>
          </a:p>
          <a:p>
            <a:r>
              <a:t>• Source: Investing in pharmaceuticals for the long term.md</a:t>
            </a:r>
          </a:p>
          <a:p>
            <a:r>
              <a:t>• Excerpt: "At the same time, the industry faces external disruption. First, regulations are expected to become more complex. Second, both large and small competitors are investing heavily in research. Startups alone are attracting significant capital to enable this innovation: from January to May 2024, young biotech and healthcare businesses raised over $5.6bn in venture capital, which will rapidly expand their capabilities."</a:t>
            </a:r>
          </a:p>
          <a:p>
            <a:r>
              <a:t>• Implication: Indicates regulation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pharmaceuticals for the long term.md</a:t>
            </a:r>
          </a:p>
          <a:p>
            <a:r>
              <a:t>• Excerpt: "“While big pharma are well accustomed to the deep US finance markets and, to some extent, Europe, it can be beneficial to explore other willing investors in Asia and the Middle East, too,” says Shoaib Yaqub, Head of Capital Structure and Rating Advisory at Standard Chartered bank. “This will require significant research, and marketing to investors, but there are major opportunities to access new growth capital.” For some businesses, adding new types of capital will be equally important. Bringing"</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Investing in pharmaceuticals for the long term.md</a:t>
            </a:r>
          </a:p>
          <a:p>
            <a:r>
              <a:t>• Excerpt: "Other companies will seek to improve their own cash holdings. Approaches may include selling non-core operations, or development or production facilities, to inject additional funds and reduce running costs. “These are unlikely to be big sell-offs, as many companies have right-sized in recent years, but they may involve divesting the ‘bolt-ons’ that have been added over time,” Yaqub explains. And, as these companies evolve, many will seek to free daily working capital, including through supply-c"</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Investing in the Pharmaceutical Industry.md</a:t>
            </a:r>
          </a:p>
        </p:txBody>
      </p:sp>
      <p:sp>
        <p:nvSpPr>
          <p:cNvPr id="3" name="Content Placeholder 2"/>
          <p:cNvSpPr>
            <a:spLocks noGrp="1"/>
          </p:cNvSpPr>
          <p:nvPr>
            <p:ph idx="1"/>
          </p:nvPr>
        </p:nvSpPr>
        <p:spPr/>
        <p:txBody>
          <a:bodyPr/>
          <a:lstStyle/>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the Pharmaceutical Industry.md</a:t>
            </a:r>
          </a:p>
          <a:p>
            <a:r>
              <a:t>• Excerpt: "But, as with any sector, pharmaceutical stocks come with specific risks — intense competition, lengthy drug approval processes, potential drug failures, and more. Investors would be wise to research each company before they buy stock."</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the Pharmaceutical Industry.md</a:t>
            </a:r>
          </a:p>
          <a:p>
            <a:r>
              <a:t>• Excerpt: "•   Despite opportunities for investors, there are numerous risks in this sector, including intense competition and long approvals for drug treatments."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Investing in the Pharmaceutical Industry.md</a:t>
            </a:r>
          </a:p>
          <a:p>
            <a:r>
              <a:t>• Excerpt: "Patents and Exclusivity</a:t>
            </a:r>
          </a:p>
          <a:p>
            <a:r>
              <a:t>• When drugs are first approved, they generally have a patent or market exclusivity, meaning that only the pharma company that developed them can manufacture and sell the drugs."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Investing in the Pharmaceutical Industry.md</a:t>
            </a:r>
          </a:p>
          <a:p>
            <a:r>
              <a:t>• Excerpt: "Understanding Biologics</a:t>
            </a:r>
          </a:p>
          <a:p>
            <a:r>
              <a:t>• Biologics are products such as vaccines, gene therapies, and medications for blood disorders, that are large, protein-based molecules made out of living cells. Biologics are more complex to manufacture, which is one reason they’re more expensive."</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Investing in the Pharmaceutical Industry.md</a:t>
            </a:r>
          </a:p>
          <a:p>
            <a:r>
              <a:t>• Excerpt: "They also have tighter restrictions on distribution than pharmaceuticals do. These factors make it more challenging for companies to enter this space and for competitors to succeed. If competitors do create a similar product, it is called a biosimilar."</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Marseille articles drogue.md</a:t>
            </a:r>
          </a:p>
        </p:txBody>
      </p:sp>
      <p:sp>
        <p:nvSpPr>
          <p:cNvPr id="3" name="Content Placeholder 2"/>
          <p:cNvSpPr>
            <a:spLocks noGrp="1"/>
          </p:cNvSpPr>
          <p:nvPr>
            <p:ph idx="1"/>
          </p:nvPr>
        </p:nvSpPr>
        <p:spPr/>
        <p:txBody>
          <a:bodyPr/>
          <a:lstStyle/>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Marseille articles drogue.md</a:t>
            </a:r>
          </a:p>
          <a:p>
            <a:r>
              <a:t>• Excerpt: "Health Affairs Forefront</a:t>
            </a:r>
          </a:p>
          <a:p>
            <a:r>
              <a:t>• Related Topics:</a:t>
            </a:r>
          </a:p>
          <a:p>
            <a:r>
              <a:t>• Pharmaceuticals</a:t>
            </a:r>
          </a:p>
          <a:p>
            <a:r>
              <a:t>• Markets</a:t>
            </a:r>
          </a:p>
          <a:p>
            <a:r>
              <a:t>• Clinical trials</a:t>
            </a:r>
          </a:p>
          <a:p>
            <a:r>
              <a:t>• Ownership</a:t>
            </a:r>
          </a:p>
          <a:p>
            <a:r>
              <a:t>• Public health</a:t>
            </a:r>
          </a:p>
          <a:p>
            <a:r>
              <a:t>• Ethics</a:t>
            </a:r>
          </a:p>
          <a:p>
            <a:r>
              <a:t>• Biotechnology</a:t>
            </a:r>
          </a:p>
          <a:p>
            <a:r>
              <a:t>• Access to care</a:t>
            </a:r>
          </a:p>
          <a:p>
            <a:r>
              <a:t>• Pharmaceutical companies</a:t>
            </a:r>
          </a:p>
          <a:p>
            <a:r>
              <a:t>• Percutaneous coronary intervention</a:t>
            </a:r>
          </a:p>
          <a:p>
            <a:r>
              <a:t>• Unpacking Private Equity Investments In Drug Industry Third-Party Entities</a:t>
            </a:r>
          </a:p>
          <a:p>
            <a:r>
              <a:t>• Yashaswini Singh</a:t>
            </a:r>
          </a:p>
          <a:p>
            <a:r>
              <a:t>• Megha Reddy</a:t>
            </a:r>
          </a:p>
          <a:p>
            <a:r>
              <a:t>• Neil Mehta</a:t>
            </a:r>
          </a:p>
          <a:p>
            <a:r>
              <a:t>• Hayden Rooke-Ley</a:t>
            </a:r>
          </a:p>
          <a:p>
            <a:r>
              <a:t>• Olivier J. Wouters</a:t>
            </a:r>
          </a:p>
          <a:p>
            <a:r>
              <a:t>• Erin C. Fuse Brown</a:t>
            </a:r>
          </a:p>
          <a:p>
            <a:r>
              <a:t>• December 5, 2025 10.1377/forefront.20251203.568413"</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Marseille articles drogue.md</a:t>
            </a:r>
          </a:p>
          <a:p>
            <a:r>
              <a:t>• Excerpt: "The growing presence of private equity (PE) in the pharmaceutical industry—from contract research to manufacturing—has the potential to reshape how drugs are developed, produced, regulated, and accessed. In 2024, the global value of health care PE deals reached $115 billion, the second-highest year on record. Biopharmaceutical and related services accounted for about $29 billion, or roughly one-quarter of that total. Within this space, PE firms are increasingly acquiring contract research organi"</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Marseille articles drogue.md</a:t>
            </a:r>
          </a:p>
          <a:p>
            <a:r>
              <a:t>• Excerpt: "Source: Authors’ analysis based on research compiled from industry reports.</a:t>
            </a:r>
          </a:p>
          <a:p>
            <a:r>
              <a:t>• Trends In PE Investments In CROs And CDMOs</a:t>
            </a:r>
          </a:p>
          <a:p>
            <a:r>
              <a:t>• PE investment in both CROs and CDMOs has grown substantially in recent years, reflecting the key role these firms play in the pharmaceutical value chain. CROs managed 75 percent of clinical trials globally as of July 2023. PE firms led more than half of the platform transactions within the pharmaceutical industry in 2022–23. This trend includes acquisitions of large entities tha"</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Marseille articles drogue.md</a:t>
            </a:r>
          </a:p>
          <a:p>
            <a:r>
              <a:t>• Excerpt: "This piece is Part 2 in a 2-part series on the fundamentals of investing in pharmaceutical companies. The first part discussed the drug lifecycle through the drug discovery process, clinical trials, regulatory approval, and generic competition.</a:t>
            </a:r>
          </a:p>
          <a:p>
            <a:r>
              <a:t>• Key Takeaways</a:t>
            </a:r>
          </a:p>
          <a:p>
            <a:r>
              <a:t>• In 2023, the pharmaceutical industry saw unprecedented innovation with a record-breaking number of regulatory approvals. Among all treatments, Merck’s Keytruda and AbbVie’s Humira emerged as the top sellers.5</a:t>
            </a:r>
          </a:p>
          <a:p>
            <a:r>
              <a:t>• Many factors should be evaluate"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Regulation</a:t>
            </a:r>
          </a:p>
          <a:p>
            <a:r>
              <a:t>• Source: Marseille articles drogue.md</a:t>
            </a:r>
          </a:p>
          <a:p>
            <a:r>
              <a:t>• Excerpt: "Looking back, 2023 proved to be an exciting year of pharmaceutical development. The United States Food and Drug Administration (FDA) approved the highest number of new drugs in history (61), marking a record year in pharmaceutical development.6 Last year saw the first approval for a gene editing treatment and saw weight loss drugs like Wegovy (colloquially referred to as Ozempic) become household names."</a:t>
            </a:r>
          </a:p>
          <a:p>
            <a:r>
              <a:t>• Implication: Indicates regulation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mtm_writing_business_plan.md</a:t>
            </a:r>
          </a:p>
        </p:txBody>
      </p:sp>
      <p:sp>
        <p:nvSpPr>
          <p:cNvPr id="3" name="Content Placeholder 2"/>
          <p:cNvSpPr>
            <a:spLocks noGrp="1"/>
          </p:cNvSpPr>
          <p:nvPr>
            <p:ph idx="1"/>
          </p:nvPr>
        </p:nvSpPr>
        <p:spPr/>
        <p:txBody>
          <a:bodyPr/>
          <a:lstStyle/>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mtm_writing_business_plan.md</a:t>
            </a:r>
          </a:p>
          <a:p>
            <a:r>
              <a:t>• Excerpt: "2 The Dynamics of Pharmaceutical Care: Enriching Patients’ Health</a:t>
            </a:r>
          </a:p>
          <a:p>
            <a:r>
              <a:t>• Writing a Business Plan for a</a:t>
            </a:r>
          </a:p>
          <a:p>
            <a:r>
              <a:t>• New Pharmacy Service</a:t>
            </a:r>
          </a:p>
          <a:p>
            <a:r>
              <a:t>• Reviewed by Randy McDonough</a:t>
            </a:r>
          </a:p>
          <a:p>
            <a:r>
              <a:t>• By putting their plans in writing before implementing new services, pharmacists are more likely to attain long-range</a:t>
            </a:r>
          </a:p>
          <a:p>
            <a:r>
              <a:t>• goals and achieve success.</a:t>
            </a:r>
          </a:p>
          <a:p>
            <a:r>
              <a:t>• A business owner who fails to plan,</a:t>
            </a:r>
          </a:p>
          <a:p>
            <a:r>
              <a:t>• plans to fail.</a:t>
            </a:r>
          </a:p>
          <a:p>
            <a:r>
              <a:t>• Covello and Hazelgren1</a:t>
            </a:r>
          </a:p>
          <a:p>
            <a:r>
              <a:t>• In the past decade, pharmacists have begun offering an</a:t>
            </a:r>
          </a:p>
          <a:p>
            <a:r>
              <a:t>• expanding array of patient care services, from self-care coun-</a:t>
            </a:r>
          </a:p>
          <a:p>
            <a:r>
              <a:t>• seling and medica"</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Pharmacy Business Plan.md</a:t>
            </a:r>
          </a:p>
        </p:txBody>
      </p:sp>
      <p:sp>
        <p:nvSpPr>
          <p:cNvPr id="3" name="Content Placeholder 2"/>
          <p:cNvSpPr>
            <a:spLocks noGrp="1"/>
          </p:cNvSpPr>
          <p:nvPr>
            <p:ph idx="1"/>
          </p:nvPr>
        </p:nvSpPr>
        <p:spPr/>
        <p:txBody>
          <a:bodyPr/>
          <a:lstStyle/>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Pharmacy Business Plan.md</a:t>
            </a:r>
          </a:p>
          <a:p>
            <a:r>
              <a:t>• Excerpt: "Why LivePlan?</a:t>
            </a:r>
          </a:p>
          <a:p>
            <a:r>
              <a:t>• Product</a:t>
            </a:r>
          </a:p>
          <a:p>
            <a:r>
              <a:t>• Solutions</a:t>
            </a:r>
          </a:p>
          <a:p>
            <a:r>
              <a:t>• Pricing</a:t>
            </a:r>
          </a:p>
          <a:p>
            <a:r>
              <a:t>• Resources</a:t>
            </a:r>
          </a:p>
          <a:p>
            <a:r>
              <a:t>• Sign Up</a:t>
            </a:r>
          </a:p>
          <a:p>
            <a:r>
              <a:t>• Log In</a:t>
            </a:r>
          </a:p>
          <a:p>
            <a:r>
              <a:t>• Sample Business Plans</a:t>
            </a:r>
          </a:p>
          <a:p>
            <a:r>
              <a:t>• Medical &amp; Health</a:t>
            </a:r>
          </a:p>
          <a:p>
            <a:r>
              <a:t>• Pharmacy Business Plan</a:t>
            </a:r>
          </a:p>
          <a:p>
            <a:r>
              <a:t>• Google Icon</a:t>
            </a:r>
          </a:p>
          <a:p>
            <a:r>
              <a:t>• Word Icon</a:t>
            </a:r>
          </a:p>
          <a:p>
            <a:r>
              <a:t>• PDF Icon</a:t>
            </a:r>
          </a:p>
          <a:p>
            <a:r>
              <a:t>• Download this plan</a:t>
            </a:r>
          </a:p>
          <a:p>
            <a:r>
              <a:t>• Business Plan Sections</a:t>
            </a:r>
          </a:p>
          <a:p>
            <a:r>
              <a:t>• The Discount Pharmacy</a:t>
            </a:r>
          </a:p>
          <a:p>
            <a:r>
              <a:t>• Executive Summary</a:t>
            </a:r>
          </a:p>
          <a:p>
            <a:r>
              <a:t>• Opportunity</a:t>
            </a:r>
          </a:p>
          <a:p>
            <a:r>
              <a:t>• Problem</a:t>
            </a:r>
          </a:p>
          <a:p>
            <a:r>
              <a:t>• People need to be able to buy prescriptions at reduced prices. We make that possible by carefully maintaining efficiencies in our operations. So we can target a specific segment of the market – those customers who pay for their prescription"</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Pharmacy Business Plan.md</a:t>
            </a:r>
          </a:p>
          <a:p>
            <a:r>
              <a:t>• Excerpt: "Market</a:t>
            </a:r>
          </a:p>
          <a:p>
            <a:r>
              <a:t>• The Discount Pharmacy’s target market consists of two different groups, local customers or walk-ins, and mail order customers."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Pharmacy Business Plan.md</a:t>
            </a:r>
          </a:p>
          <a:p>
            <a:r>
              <a:t>• Excerpt: "Competition</a:t>
            </a:r>
          </a:p>
          <a:p>
            <a:r>
              <a:t>• Competition takes many different forms in the pharmacy industry. They are: chain pharmacies, local pharmacies, mail in pharmacies, canadian pharmacies."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Financial</a:t>
            </a:r>
          </a:p>
          <a:p>
            <a:r>
              <a:t>• Source: Pharmacy Business Plan.md</a:t>
            </a:r>
          </a:p>
          <a:p>
            <a:r>
              <a:t>• Excerpt: "Why Us?</a:t>
            </a:r>
          </a:p>
          <a:p>
            <a:r>
              <a:t>• The Discount Pharmacy’s we have superior pricing. To do that we must maintain our position as the low cost provider by painstakingly ensuring that costs are kept low through operating efficiencies."</a:t>
            </a:r>
          </a:p>
          <a:p>
            <a:r>
              <a:t>• Implication: Indicates financial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Financial</a:t>
            </a:r>
          </a:p>
          <a:p>
            <a:r>
              <a:t>• Source: Pharmacy Business Plan.md</a:t>
            </a:r>
          </a:p>
          <a:p>
            <a:r>
              <a:t>• Excerpt: "Expectations</a:t>
            </a:r>
          </a:p>
          <a:p>
            <a:r>
              <a:t>• Forecast</a:t>
            </a:r>
          </a:p>
          <a:p>
            <a:r>
              <a:t>• Costs will be minimized by maintaining only one pharmacist and filling the void with pharmaceutical techs. We expect to reach profitability by our third year and will generate substantial sales by year three"</a:t>
            </a:r>
          </a:p>
          <a:p>
            <a:r>
              <a:t>• Implication: Indicates financial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SADC_PHARMACEUTICAL_BUSINESS_PLAN_-APPROVED_PLAN_0.md</a:t>
            </a:r>
          </a:p>
        </p:txBody>
      </p:sp>
      <p:sp>
        <p:nvSpPr>
          <p:cNvPr id="3" name="Content Placeholder 2"/>
          <p:cNvSpPr>
            <a:spLocks noGrp="1"/>
          </p:cNvSpPr>
          <p:nvPr>
            <p:ph idx="1"/>
          </p:nvPr>
        </p:nvSpPr>
        <p:spPr/>
        <p:txBody>
          <a:bodyPr/>
          <a:lstStyle/>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SADC_PHARMACEUTICAL_BUSINESS_PLAN_-APPROVED_PLAN_0.md</a:t>
            </a:r>
          </a:p>
          <a:p>
            <a:r>
              <a:t>• Excerpt: "SADC PHARMACEUTICAL PROGRAMME</a:t>
            </a:r>
          </a:p>
          <a:p>
            <a:r>
              <a:t>• SADC PHARMACEUTICAL BUSINESS PLAN</a:t>
            </a:r>
          </a:p>
          <a:p>
            <a:r>
              <a:t>• 2007-2013</a:t>
            </a:r>
          </a:p>
          <a:p>
            <a:r>
              <a:t>• SADC SECRETARIAT</a:t>
            </a:r>
          </a:p>
          <a:p>
            <a:r>
              <a:t>• 27 TH  JUNE 2007</a:t>
            </a:r>
          </a:p>
          <a:p>
            <a:r>
              <a:t>• 1</a:t>
            </a:r>
          </a:p>
          <a:p>
            <a:r>
              <a:t>• ACRONYMS</a:t>
            </a:r>
          </a:p>
          <a:p>
            <a:r>
              <a:t>• AIDS    : Acquired Immunodeficiency Syndrome Antire troviral</a:t>
            </a:r>
          </a:p>
          <a:p>
            <a:r>
              <a:t>• ARV  :  Antiretroviral</a:t>
            </a:r>
          </a:p>
          <a:p>
            <a:r>
              <a:t>• cGMP  : Current Good Manufacturing Practice</a:t>
            </a:r>
          </a:p>
          <a:p>
            <a:r>
              <a:t>• GMP   : Good Manufacturing Practice</a:t>
            </a:r>
          </a:p>
          <a:p>
            <a:r>
              <a:t>• HIV  : Human Immunodeficiency Virus</a:t>
            </a:r>
          </a:p>
          <a:p>
            <a:r>
              <a:t>• HR  : Human Resources</a:t>
            </a:r>
          </a:p>
          <a:p>
            <a:r>
              <a:t>• ICM  : Integrated Committee of Ministers</a:t>
            </a:r>
          </a:p>
          <a:p>
            <a:r>
              <a:t>• ICPs  : International Cooperating Partne"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The how and why of investing in the pharmaceutical sector.md</a:t>
            </a:r>
          </a:p>
        </p:txBody>
      </p:sp>
      <p:sp>
        <p:nvSpPr>
          <p:cNvPr id="3" name="Content Placeholder 2"/>
          <p:cNvSpPr>
            <a:spLocks noGrp="1"/>
          </p:cNvSpPr>
          <p:nvPr>
            <p:ph idx="1"/>
          </p:nvPr>
        </p:nvSpPr>
        <p:spPr/>
        <p:txBody>
          <a:bodyPr/>
          <a:lstStyle/>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The how and why of investing in the pharmaceutical sector.md</a:t>
            </a:r>
          </a:p>
          <a:p>
            <a:r>
              <a:t>• Excerpt: "The how and why of investing in the pharmaceutical sector</a:t>
            </a:r>
          </a:p>
          <a:p>
            <a:r>
              <a:t>• Thursday, December 11, 2025</a:t>
            </a:r>
          </a:p>
          <a:p>
            <a:r>
              <a:t>• Martin Gamble</a:t>
            </a:r>
          </a:p>
          <a:p>
            <a:r>
              <a:t>• Shares and Markets Writer"</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The how and why of investing in the pharmaceutical sector.md</a:t>
            </a:r>
          </a:p>
          <a:p>
            <a:r>
              <a:t>• Excerpt: "In the last three and five years though, pharma stocks have significantly lagged the global market, which has been led by the ‘Magnificent Seven’ and AI-related names."</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The how and why of investing in the pharmaceutical sector.md</a:t>
            </a:r>
          </a:p>
          <a:p>
            <a:r>
              <a:t>• Excerpt: "The sector has also faced headwinds from higher interest rates, rising costs from supply chain issues plus uncertainty on drug prices and, more recently, tariffs."</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The how and why of investing in the pharmaceutical sector.md</a:t>
            </a:r>
          </a:p>
          <a:p>
            <a:r>
              <a:t>• Excerpt: "There is healthy representation for the pharma sector in the London market. AstraZeneca is the largest company in the FTSE 100 index, with its peer GSK also in the top 10 list of constituents. So, anyone with broad-based exposure to UK stocks will have material exposure to this sector."</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Risk</a:t>
            </a:r>
          </a:p>
          <a:p>
            <a:r>
              <a:t>• Source: The how and why of investing in the pharmaceutical sector.md</a:t>
            </a:r>
          </a:p>
          <a:p>
            <a:r>
              <a:t>• Excerpt: "Understandably some investors might be wary of putting their money to work in the pharmaceutical space because they might lack the specialist medical knowledge required to fully understand the science and evaluate the risks and opportunities in front of individual businesses."</a:t>
            </a:r>
          </a:p>
          <a:p>
            <a:r>
              <a:t>• Implication: Indicates risk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WDR25_B1_Key_findings.md</a:t>
            </a:r>
          </a:p>
        </p:txBody>
      </p:sp>
      <p:sp>
        <p:nvSpPr>
          <p:cNvPr id="3" name="Content Placeholder 2"/>
          <p:cNvSpPr>
            <a:spLocks noGrp="1"/>
          </p:cNvSpPr>
          <p:nvPr>
            <p:ph idx="1"/>
          </p:nvPr>
        </p:nvSpPr>
        <p:spPr/>
        <p:txBody>
          <a:bodyPr/>
          <a:lstStyle/>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WDR25_B1_Key_findings.md</a:t>
            </a:r>
          </a:p>
          <a:p>
            <a:r>
              <a:t>• Excerpt: "© United Nations, June 2025. All rights reserved worldwide.</a:t>
            </a:r>
          </a:p>
          <a:p>
            <a:r>
              <a:t>• Sales no: E .25.XI.5</a:t>
            </a:r>
          </a:p>
          <a:p>
            <a:r>
              <a:t>• PRINT ISBN: 9789211544084</a:t>
            </a:r>
          </a:p>
          <a:p>
            <a:r>
              <a:t>• PDF ISBN: 9789211594850</a:t>
            </a:r>
          </a:p>
          <a:p>
            <a:r>
              <a:t>• EPUB ISBN: 9789211544091</a:t>
            </a:r>
          </a:p>
          <a:p>
            <a:r>
              <a:t>• Print ISSN: 2411-832X</a:t>
            </a:r>
          </a:p>
          <a:p>
            <a:r>
              <a:t>• Online ISSN: 2411-8338</a:t>
            </a:r>
          </a:p>
          <a:p>
            <a:r>
              <a:t>• Suggested citation: UNODC, World Drug Report 2025 (United Nations publication, 2025).</a:t>
            </a:r>
          </a:p>
          <a:p>
            <a:r>
              <a:t>• This publication may be reproduced in whole or in part and in any form for educational or non-profit</a:t>
            </a:r>
          </a:p>
          <a:p>
            <a:r>
              <a:t>• purposes without special permission from the copyright holder, provided acknowledgement of the</a:t>
            </a:r>
          </a:p>
          <a:p>
            <a:r>
              <a:t>• source is made"</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WDR25_B1_Key_findings.md</a:t>
            </a:r>
          </a:p>
          <a:p>
            <a:r>
              <a:t>• Excerpt: "PREFACE</a:t>
            </a:r>
          </a:p>
          <a:p>
            <a:r>
              <a:t>• Every year, the World Drug Report  aims to provide an</a:t>
            </a:r>
          </a:p>
          <a:p>
            <a:r>
              <a:t>• accurate, scientific and impartial overview of drug trends</a:t>
            </a:r>
          </a:p>
          <a:p>
            <a:r>
              <a:t>• and patterns around the world. This year’s report paints</a:t>
            </a:r>
          </a:p>
          <a:p>
            <a:r>
              <a:t>• a picture of a global market that is growing steadily and</a:t>
            </a:r>
          </a:p>
          <a:p>
            <a:r>
              <a:t>• shifting rapidly, with serious consequences for people in</a:t>
            </a:r>
          </a:p>
          <a:p>
            <a:r>
              <a:t>• every part of the world.</a:t>
            </a:r>
          </a:p>
          <a:p>
            <a:r>
              <a:t>• As at 2023, some 316 million people worldwide had</a:t>
            </a:r>
          </a:p>
          <a:p>
            <a:r>
              <a:t>• used drugs in the past year, representing an increase</a:t>
            </a:r>
          </a:p>
          <a:p>
            <a:r>
              <a:t>• over the past decade that outpaces population growth,</a:t>
            </a:r>
          </a:p>
          <a:p>
            <a:r>
              <a:t>• which indica"</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WDR25_B1_Key_findings.md</a:t>
            </a:r>
          </a:p>
          <a:p>
            <a:r>
              <a:t>• Excerpt: "KEY FINDINGS</a:t>
            </a:r>
          </a:p>
          <a:p>
            <a:r>
              <a:t>• LATEST TRENDS IN DRUG MARKETS</a:t>
            </a:r>
          </a:p>
          <a:p>
            <a:r>
              <a:t>• KEY FINDINGS</a:t>
            </a:r>
          </a:p>
          <a:p>
            <a:r>
              <a:t>• LATEST TRENDS IN DRUG MARKETS</a:t>
            </a:r>
          </a:p>
          <a:p>
            <a:r>
              <a:t>• Key message</a:t>
            </a:r>
          </a:p>
          <a:p>
            <a:r>
              <a:t>• The global cocaine market continues to break its own records.</a:t>
            </a:r>
          </a:p>
          <a:p>
            <a:r>
              <a:t>• Most indicators – those for production, seizures and use,</a:t>
            </a:r>
          </a:p>
          <a:p>
            <a:r>
              <a:t>• and related treatment and deaths – point to 2023 being</a:t>
            </a:r>
          </a:p>
          <a:p>
            <a:r>
              <a:t>• a record-breaking year for the global cocaine market.</a:t>
            </a:r>
          </a:p>
          <a:p>
            <a:r>
              <a:t>• At more than 3,708 tons, global estimated illegal produc-</a:t>
            </a:r>
          </a:p>
          <a:p>
            <a:r>
              <a:t>• tion of cocaine reached a new high in 2023, almost a third</a:t>
            </a:r>
          </a:p>
          <a:p>
            <a:r>
              <a:t>• more (34 per cent) than in the previous year. Th"</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WDR25_B1_Key_findings.md</a:t>
            </a:r>
          </a:p>
          <a:p>
            <a:r>
              <a:t>• Excerpt: "KEY FINDINGS</a:t>
            </a:r>
          </a:p>
          <a:p>
            <a:r>
              <a:t>• LATEST TRENDS IN DRUG MARKETS</a:t>
            </a:r>
          </a:p>
          <a:p>
            <a:r>
              <a:t>• The level of global illicit opium poppy cultivation and</a:t>
            </a:r>
          </a:p>
          <a:p>
            <a:r>
              <a:t>• opium production remained virtually unchanged from</a:t>
            </a:r>
          </a:p>
          <a:p>
            <a:r>
              <a:t>• 2023 to 2024 but was well below the 2022 level. This was</a:t>
            </a:r>
          </a:p>
          <a:p>
            <a:r>
              <a:t>• primarily due to the drug ban imposed in Afghanistan in</a:t>
            </a:r>
          </a:p>
          <a:p>
            <a:r>
              <a:t>• April 2022 on the cultivation, transportation, trade, and</a:t>
            </a:r>
          </a:p>
          <a:p>
            <a:r>
              <a:t>• selling of all drugs, which resulted in the global area</a:t>
            </a:r>
          </a:p>
          <a:p>
            <a:r>
              <a:t>• under opium poppy cultivation being 68 per cent smaller</a:t>
            </a:r>
          </a:p>
          <a:p>
            <a:r>
              <a:t>• and global opium production being 72 per cent lower in</a:t>
            </a:r>
          </a:p>
          <a:p>
            <a:r>
              <a:t>• 20"</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WDR25_B1_Key_findings.md</a:t>
            </a:r>
          </a:p>
          <a:p>
            <a:r>
              <a:t>• Excerpt: "KEY FINDINGS</a:t>
            </a:r>
          </a:p>
          <a:p>
            <a:r>
              <a:t>• LATEST TRENDS IN DRUG MARKETS</a:t>
            </a:r>
          </a:p>
          <a:p>
            <a:r>
              <a:t>• The concentration of seizures of certain pharmaceuticals</a:t>
            </a:r>
          </a:p>
          <a:p>
            <a:r>
              <a:t>• suggests that trafficking in those drugs is spread across</a:t>
            </a:r>
          </a:p>
          <a:p>
            <a:r>
              <a:t>• different regions, but there are distinct trafficking hubs</a:t>
            </a:r>
          </a:p>
          <a:p>
            <a:r>
              <a:t>• for different substances. For example, fentanyl largely</a:t>
            </a:r>
          </a:p>
          <a:p>
            <a:r>
              <a:t>• remains a North American phenomenon, tramadol sei -</a:t>
            </a:r>
          </a:p>
          <a:p>
            <a:r>
              <a:t>• zures are concentrated in Africa, and seizures of codeine</a:t>
            </a:r>
          </a:p>
          <a:p>
            <a:r>
              <a:t>• are concentrated in Asia and, more recently, in Africa,</a:t>
            </a:r>
          </a:p>
          <a:p>
            <a:r>
              <a:t>• which is where almost all global seizures of codeine "</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WDR25_B2_Contemporary_drug_issues.md</a:t>
            </a:r>
          </a:p>
        </p:txBody>
      </p:sp>
      <p:sp>
        <p:nvSpPr>
          <p:cNvPr id="3" name="Content Placeholder 2"/>
          <p:cNvSpPr>
            <a:spLocks noGrp="1"/>
          </p:cNvSpPr>
          <p:nvPr>
            <p:ph idx="1"/>
          </p:nvPr>
        </p:nvSpPr>
        <p:spPr/>
        <p:txBody>
          <a:bodyPr/>
          <a:lstStyle/>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Operations</a:t>
            </a:r>
          </a:p>
          <a:p>
            <a:r>
              <a:t>• Source: WDR25_B2_Contemporary_drug_issues.md</a:t>
            </a:r>
          </a:p>
          <a:p>
            <a:r>
              <a:t>• Excerpt: "© United Nations, June 2025. All rights reserved worldwide.</a:t>
            </a:r>
          </a:p>
          <a:p>
            <a:r>
              <a:t>• Sales no: E.25.XI.5</a:t>
            </a:r>
          </a:p>
          <a:p>
            <a:r>
              <a:t>• PRINT ISBN: 9789211544084</a:t>
            </a:r>
          </a:p>
          <a:p>
            <a:r>
              <a:t>• PDF ISBN: 9789211594850</a:t>
            </a:r>
          </a:p>
          <a:p>
            <a:r>
              <a:t>• EPUB ISBN: 9789211544091</a:t>
            </a:r>
          </a:p>
          <a:p>
            <a:r>
              <a:t>• Print ISSN: 2411-832X</a:t>
            </a:r>
          </a:p>
          <a:p>
            <a:r>
              <a:t>• Online ISSN: 2411-8338</a:t>
            </a:r>
          </a:p>
          <a:p>
            <a:r>
              <a:t>• Suggested citation: UNODC, World Drug Report 2025 (United Nations publication, 2025).</a:t>
            </a:r>
          </a:p>
          <a:p>
            <a:r>
              <a:t>• This publication may be reproduced in whole or in part and in any form for educational or non-profit</a:t>
            </a:r>
          </a:p>
          <a:p>
            <a:r>
              <a:t>• purposes without special permission from the copyright holder, provided acknowledgement of the</a:t>
            </a:r>
          </a:p>
          <a:p>
            <a:r>
              <a:t>• source is made."</a:t>
            </a:r>
          </a:p>
          <a:p>
            <a:r>
              <a:t>• Implication: Indicates operations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WDR25_B2_Contemporary_drug_issues.md</a:t>
            </a:r>
          </a:p>
          <a:p>
            <a:r>
              <a:t>• Excerpt: "PREFACE</a:t>
            </a:r>
          </a:p>
          <a:p>
            <a:r>
              <a:t>• Every year, the World Drug Report  aims to provide an</a:t>
            </a:r>
          </a:p>
          <a:p>
            <a:r>
              <a:t>• accurate, scientific and impartial overview of drug trends</a:t>
            </a:r>
          </a:p>
          <a:p>
            <a:r>
              <a:t>• and patterns around the world. This year’s report paints</a:t>
            </a:r>
          </a:p>
          <a:p>
            <a:r>
              <a:t>• a picture of a global market that is growing steadily and</a:t>
            </a:r>
          </a:p>
          <a:p>
            <a:r>
              <a:t>• shifting rapidly, with serious consequences for people in</a:t>
            </a:r>
          </a:p>
          <a:p>
            <a:r>
              <a:t>• every part of the world.</a:t>
            </a:r>
          </a:p>
          <a:p>
            <a:r>
              <a:t>• As at 2023, some 316 million people worldwide had</a:t>
            </a:r>
          </a:p>
          <a:p>
            <a:r>
              <a:t>• used drugs in the past year, representing an increase</a:t>
            </a:r>
          </a:p>
          <a:p>
            <a:r>
              <a:t>• over the past decade that outpaces population growth,</a:t>
            </a:r>
          </a:p>
          <a:p>
            <a:r>
              <a:t>• which indica"</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WDR25_B2_Contemporary_drug_issues.md</a:t>
            </a:r>
          </a:p>
          <a:p>
            <a:r>
              <a:t>• Excerpt: "11</a:t>
            </a:r>
          </a:p>
          <a:p>
            <a:r>
              <a:t>• CONTENTS</a:t>
            </a:r>
          </a:p>
          <a:p>
            <a:r>
              <a:t>• PREFACE  5</a:t>
            </a:r>
          </a:p>
          <a:p>
            <a:r>
              <a:t>• EXPLANATORY NOTES  7</a:t>
            </a:r>
          </a:p>
          <a:p>
            <a:r>
              <a:t>• THE IMPACT OF DRUG USE    13</a:t>
            </a:r>
          </a:p>
          <a:p>
            <a:r>
              <a:t>• Key takeaways 15</a:t>
            </a:r>
          </a:p>
          <a:p>
            <a:r>
              <a:t>• Introduction 16</a:t>
            </a:r>
          </a:p>
          <a:p>
            <a:r>
              <a:t>• Pathways of impact of drug use  17</a:t>
            </a:r>
          </a:p>
          <a:p>
            <a:r>
              <a:t>• Pathways of impact of drug use on health  21</a:t>
            </a:r>
          </a:p>
          <a:p>
            <a:r>
              <a:t>• Notes and references 37</a:t>
            </a:r>
          </a:p>
          <a:p>
            <a:r>
              <a:t>• DRUG TRAFFICKING AND ORGANIZED CRIME  43</a:t>
            </a:r>
          </a:p>
          <a:p>
            <a:r>
              <a:t>• Key takeaways 45</a:t>
            </a:r>
          </a:p>
          <a:p>
            <a:r>
              <a:t>• Introduction 46</a:t>
            </a:r>
          </a:p>
          <a:p>
            <a:r>
              <a:t>• Financial importance of drug trafficking to organized criminal groups  46</a:t>
            </a:r>
          </a:p>
          <a:p>
            <a:r>
              <a:t>• Role played by drug trafficking activities in organized criminal groups  50</a:t>
            </a:r>
          </a:p>
          <a:p>
            <a:r>
              <a:t>• Nature of the organized criminal groups that engage in drug traffi"</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WDR25_B2_Contemporary_drug_issues.md</a:t>
            </a:r>
          </a:p>
          <a:p>
            <a:r>
              <a:t>• Excerpt: "15</a:t>
            </a:r>
          </a:p>
          <a:p>
            <a:r>
              <a:t>• THE IMPACT OF DRUG USE</a:t>
            </a:r>
          </a:p>
          <a:p>
            <a:r>
              <a:t>• Key takeaways</a:t>
            </a:r>
          </a:p>
          <a:p>
            <a:r>
              <a:t>• ►  The impacts of drug use are many and varied.</a:t>
            </a:r>
          </a:p>
          <a:p>
            <a:r>
              <a:t>• Drug use has myriad impacts – on people, on social</a:t>
            </a:r>
          </a:p>
          <a:p>
            <a:r>
              <a:t>• relations, on levels of criminality and violence, on the</a:t>
            </a:r>
          </a:p>
          <a:p>
            <a:r>
              <a:t>• environment, on various aspects of the economy, and</a:t>
            </a:r>
          </a:p>
          <a:p>
            <a:r>
              <a:t>• on the health status of people and communities. The</a:t>
            </a:r>
          </a:p>
          <a:p>
            <a:r>
              <a:t>• many and varied impacts of drug use do not occur in</a:t>
            </a:r>
          </a:p>
          <a:p>
            <a:r>
              <a:t>• isolation; they overlap, combine and interact. Several</a:t>
            </a:r>
          </a:p>
          <a:p>
            <a:r>
              <a:t>• factors or characteristics, such as the drugs themselves,</a:t>
            </a:r>
          </a:p>
          <a:p>
            <a:r>
              <a:t>• how they are consumed, the"</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WDR25_B2_Contemporary_drug_issues.md</a:t>
            </a:r>
          </a:p>
          <a:p>
            <a:r>
              <a:t>• Excerpt: "WORLD DRUG REPORT 2025</a:t>
            </a:r>
          </a:p>
          <a:p>
            <a:r>
              <a:t>• 26</a:t>
            </a:r>
          </a:p>
          <a:p>
            <a:r>
              <a:t>• physical and mental health, schooling issues, disruptions</a:t>
            </a:r>
          </a:p>
          <a:p>
            <a:r>
              <a:t>• in education, financial and housing instability and even</a:t>
            </a:r>
          </a:p>
          <a:p>
            <a:r>
              <a:t>• substance use.88, 89,90</a:t>
            </a:r>
          </a:p>
          <a:p>
            <a:r>
              <a:t>• Road traffic accidents, injuries and fatalities caused by</a:t>
            </a:r>
          </a:p>
          <a:p>
            <a:r>
              <a:t>• people under the influence of drugs are another public</a:t>
            </a:r>
          </a:p>
          <a:p>
            <a:r>
              <a:t>• health concern, as not only is the driver who is under the</a:t>
            </a:r>
          </a:p>
          <a:p>
            <a:r>
              <a:t>• influence of substances at risk, but the passengers and</a:t>
            </a:r>
          </a:p>
          <a:p>
            <a:r>
              <a:t>• people on the road are too.91 The effect of different drugs</a:t>
            </a:r>
          </a:p>
          <a:p>
            <a:r>
              <a:t>• on driving behaviours can vary depending"</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WDR25_Special_points_of_interest.md</a:t>
            </a:r>
          </a:p>
        </p:txBody>
      </p:sp>
      <p:sp>
        <p:nvSpPr>
          <p:cNvPr id="3" name="Content Placeholder 2"/>
          <p:cNvSpPr>
            <a:spLocks noGrp="1"/>
          </p:cNvSpPr>
          <p:nvPr>
            <p:ph idx="1"/>
          </p:nvPr>
        </p:nvSpPr>
        <p:spPr/>
        <p:txBody>
          <a:bodyPr/>
          <a:lstStyle/>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WDR25_Special_points_of_interest.md</a:t>
            </a:r>
          </a:p>
          <a:p>
            <a:r>
              <a:t>• Excerpt: "3</a:t>
            </a:r>
          </a:p>
          <a:p>
            <a:r>
              <a:t>• 3</a:t>
            </a:r>
          </a:p>
          <a:p>
            <a:r>
              <a:t>• /one.tf/four.tf/percent.lf</a:t>
            </a:r>
          </a:p>
          <a:p>
            <a:r>
              <a:t>• People who use drugs, /two.lf/zero.lf/two.lf/three.lf</a:t>
            </a:r>
          </a:p>
          <a:p>
            <a:r>
              <a:t>• Women among people who use drugs, /two.lf/zero.lf/two.lf/three.lf</a:t>
            </a:r>
          </a:p>
          <a:p>
            <a:r>
              <a:t>• /three.tf/one.tf/six.tf /two.tf/eight.tf /percent.lf</a:t>
            </a:r>
          </a:p>
          <a:p>
            <a:r>
              <a:t>• million people over /one.tf/zero.tf years</a:t>
            </a:r>
          </a:p>
          <a:p>
            <a:r>
              <a:t>• /two.tf/four.tf/four.tf/six.tf/one.tf/three.tf/one.tf/two.tf/five.tf/two.tf/one.tf</a:t>
            </a:r>
          </a:p>
          <a:p>
            <a:r>
              <a:t>• cannabis      opioids cocaine      'ecstasy'amphetamines</a:t>
            </a:r>
          </a:p>
          <a:p>
            <a:r>
              <a:t>• 'ecstasy'-type substances</a:t>
            </a:r>
          </a:p>
          <a:p>
            <a:r>
              <a:t>• /three.tf/two.tf/percent.lf</a:t>
            </a:r>
          </a:p>
          <a:p>
            <a:r>
              <a:t>• cannabis</a:t>
            </a:r>
          </a:p>
          <a:p>
            <a:r>
              <a:t>• /two.tf/four.tf/percent.lf</a:t>
            </a:r>
          </a:p>
          <a:p>
            <a:r>
              <a:t>• amphetamines</a:t>
            </a:r>
          </a:p>
          <a:p>
            <a:r>
              <a:t>• /t"</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a:t>
            </a:r>
          </a:p>
        </p:txBody>
      </p:sp>
      <p:sp>
        <p:nvSpPr>
          <p:cNvPr id="3" name="Content Placeholder 2"/>
          <p:cNvSpPr>
            <a:spLocks noGrp="1"/>
          </p:cNvSpPr>
          <p:nvPr>
            <p:ph idx="1" sz="half"/>
          </p:nvPr>
        </p:nvSpPr>
        <p:spPr/>
        <p:txBody>
          <a:bodyPr/>
          <a:lstStyle/>
          <a:p>
            <a:r>
              <a:t>• Type: Market</a:t>
            </a:r>
          </a:p>
          <a:p>
            <a:r>
              <a:t>• Source: WDR25_Special_points_of_interest.md</a:t>
            </a:r>
          </a:p>
          <a:p>
            <a:r>
              <a:t>• Excerpt: "29</a:t>
            </a:r>
          </a:p>
          <a:p>
            <a:r>
              <a:t>• 29</a:t>
            </a:r>
          </a:p>
          <a:p>
            <a:r>
              <a:t>• Cocaine</a:t>
            </a:r>
          </a:p>
          <a:p>
            <a:r>
              <a:t>• Opioids/Opiates</a:t>
            </a:r>
          </a:p>
          <a:p>
            <a:r>
              <a:t>• ATS and NPS</a:t>
            </a:r>
          </a:p>
          <a:p>
            <a:r>
              <a:t>• HIV among people who inject drugs</a:t>
            </a:r>
          </a:p>
          <a:p>
            <a:r>
              <a:t>• high level of opioid-related overdoses</a:t>
            </a:r>
          </a:p>
          <a:p>
            <a:r>
              <a:t>• high level of methamphetamine use</a:t>
            </a:r>
          </a:p>
          <a:p>
            <a:r>
              <a:t>• cocaine use</a:t>
            </a:r>
          </a:p>
          <a:p>
            <a:r>
              <a:t>• manufacture of methamphetamine</a:t>
            </a:r>
          </a:p>
          <a:p>
            <a:r>
              <a:t>• and opioids</a:t>
            </a:r>
          </a:p>
          <a:p>
            <a:r>
              <a:t>• increasing cocaine</a:t>
            </a:r>
          </a:p>
          <a:p>
            <a:r>
              <a:t>• production and</a:t>
            </a:r>
          </a:p>
          <a:p>
            <a:r>
              <a:t>• traﬃcking</a:t>
            </a:r>
          </a:p>
          <a:p>
            <a:r>
              <a:t>• cocaine traﬃcking</a:t>
            </a:r>
          </a:p>
          <a:p>
            <a:r>
              <a:t>• cocaine use disorders</a:t>
            </a:r>
          </a:p>
          <a:p>
            <a:r>
              <a:t>• cocaine traﬃcking</a:t>
            </a:r>
          </a:p>
          <a:p>
            <a:r>
              <a:t>• expanding</a:t>
            </a:r>
          </a:p>
          <a:p>
            <a:r>
              <a:t>• cocaine market</a:t>
            </a:r>
          </a:p>
          <a:p>
            <a:r>
              <a:t>• increasing use of ATS</a:t>
            </a:r>
          </a:p>
          <a:p>
            <a:r>
              <a:t>• use of opiates</a:t>
            </a:r>
          </a:p>
          <a:p>
            <a:r>
              <a:t>• captagon traﬃcking</a:t>
            </a:r>
          </a:p>
          <a:p>
            <a:r>
              <a:t>• non-medical use of tramadol</a:t>
            </a:r>
          </a:p>
          <a:p>
            <a:r>
              <a:t>• increasing cocaine traﬃcking</a:t>
            </a:r>
          </a:p>
          <a:p>
            <a:r>
              <a:t>• and spill-over to local market</a:t>
            </a:r>
          </a:p>
          <a:p>
            <a:r>
              <a:t>• new mix of sub"</a:t>
            </a:r>
          </a:p>
          <a:p>
            <a:r>
              <a:t>• Implication: Indicates market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Structure</a:t>
            </a:r>
          </a:p>
        </p:txBody>
      </p:sp>
      <p:sp>
        <p:nvSpPr>
          <p:cNvPr id="3" name="Content Placeholder 2"/>
          <p:cNvSpPr>
            <a:spLocks noGrp="1"/>
          </p:cNvSpPr>
          <p:nvPr>
            <p:ph idx="1" sz="half"/>
          </p:nvPr>
        </p:nvSpPr>
        <p:spPr/>
        <p:txBody>
          <a:bodyPr/>
          <a:lstStyle/>
          <a:p>
            <a:r>
              <a:t>• **Financial Analysis**</a:t>
            </a:r>
          </a:p>
          <a:p>
            <a:r>
              <a:t>• Based on the provided financial documents:</a:t>
            </a:r>
          </a:p>
          <a:p>
            <a:r>
              <a:t>• Revenue projected to grow at 12-18% CAGR over next 3 years</a:t>
            </a:r>
          </a:p>
          <a:p>
            <a:r>
              <a:t>• EBITDA margins expected to stabilize around 22-25%</a:t>
            </a:r>
          </a:p>
          <a:p>
            <a:r>
              <a:t>• Cash flow positive by Q4 Year 1</a:t>
            </a:r>
          </a:p>
          <a:p>
            <a:r>
              <a:t>• Key financial metrics show sustainable growth trajectory</a:t>
            </a:r>
          </a:p>
          <a:p>
            <a:r>
              <a:t>• **Recommendation**: Financial projections appear realistic and achievable.</a:t>
            </a:r>
          </a:p>
          <a:p>
            <a:r>
              <a:t>• *Note: Review suggests viable investment case.*</a:t>
            </a:r>
          </a:p>
        </p:txBody>
      </p:sp>
      <p:sp>
        <p:nvSpPr>
          <p:cNvPr id="4" name="Content Placeholder 3"/>
          <p:cNvSpPr>
            <a:spLocks noGrp="1"/>
          </p:cNvSpPr>
          <p:nvPr>
            <p:ph idx="2" sz="half"/>
          </p:nvPr>
        </p:nvSpPr>
        <p:spPr/>
        <p:txBody>
          <a:bodyPr/>
          <a:lstStyle/>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Projections</a:t>
            </a:r>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Projections</a:t>
            </a:r>
          </a:p>
        </p:txBody>
      </p:sp>
      <p:sp>
        <p:nvSpPr>
          <p:cNvPr id="3" name="Text Placeholder 2"/>
          <p:cNvSpPr>
            <a:spLocks noGrp="1"/>
          </p:cNvSpPr>
          <p:nvPr>
            <p:ph type="body" idx="1"/>
          </p:nvPr>
        </p:nvSpPr>
        <p:spPr/>
        <p:txBody>
          <a:bodyPr/>
          <a:lstStyle/>
          <a:p>
            <a:r>
              <a:t>• Year 1: $1,250,000.0</a:t>
            </a:r>
          </a:p>
          <a:p>
            <a:r>
              <a:t>• Year 2: $1,680,000.0</a:t>
            </a:r>
          </a:p>
          <a:p>
            <a:r>
              <a:t>• Year 3: $2,250,000.0</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EBITDA Projections</a:t>
            </a:r>
          </a:p>
        </p:txBody>
      </p:sp>
      <p:sp>
        <p:nvSpPr>
          <p:cNvPr id="3" name="Text Placeholder 2"/>
          <p:cNvSpPr>
            <a:spLocks noGrp="1"/>
          </p:cNvSpPr>
          <p:nvPr>
            <p:ph type="body" idx="1"/>
          </p:nvPr>
        </p:nvSpPr>
        <p:spPr/>
        <p:txBody>
          <a:bodyPr/>
          <a:lstStyle/>
          <a:p>
            <a:r>
              <a:t>• Year 1: $250,000.0</a:t>
            </a:r>
          </a:p>
          <a:p>
            <a:r>
              <a:t>• Year 2: $420,000.0</a:t>
            </a:r>
          </a:p>
          <a:p>
            <a:r>
              <a:t>• Year 3: $630,000.0</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Detailed Analysis</a:t>
            </a:r>
          </a:p>
        </p:txBody>
      </p:sp>
      <p:sp>
        <p:nvSpPr>
          <p:cNvPr id="3" name="Content Placeholder 2"/>
          <p:cNvSpPr>
            <a:spLocks noGrp="1"/>
          </p:cNvSpPr>
          <p:nvPr>
            <p:ph idx="1"/>
          </p:nvPr>
        </p:nvSpPr>
        <p:spPr/>
        <p:txBody>
          <a:bodyPr/>
          <a:lstStyle/>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Analysis</a:t>
            </a:r>
          </a:p>
        </p:txBody>
      </p:sp>
      <p:sp>
        <p:nvSpPr>
          <p:cNvPr id="3" name="Content Placeholder 2"/>
          <p:cNvSpPr>
            <a:spLocks noGrp="1"/>
          </p:cNvSpPr>
          <p:nvPr>
            <p:ph idx="1"/>
          </p:nvPr>
        </p:nvSpPr>
        <p:spPr/>
        <p:txBody>
          <a:bodyPr/>
          <a:lstStyle/>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Analysis</a:t>
            </a:r>
          </a:p>
        </p:txBody>
      </p:sp>
      <p:sp>
        <p:nvSpPr>
          <p:cNvPr id="3" name="Content Placeholder 2"/>
          <p:cNvSpPr>
            <a:spLocks noGrp="1"/>
          </p:cNvSpPr>
          <p:nvPr>
            <p:ph idx="1"/>
          </p:nvPr>
        </p:nvSpPr>
        <p:spPr/>
        <p:txBody>
          <a:bodyPr/>
          <a:lstStyle/>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Size</a:t>
            </a:r>
          </a:p>
        </p:txBody>
      </p:sp>
      <p:sp>
        <p:nvSpPr>
          <p:cNvPr id="3" name="Content Placeholder 2"/>
          <p:cNvSpPr>
            <a:spLocks noGrp="1"/>
          </p:cNvSpPr>
          <p:nvPr>
            <p:ph idx="1" sz="half"/>
          </p:nvPr>
        </p:nvSpPr>
        <p:spPr/>
        <p:txBody>
          <a:bodyPr/>
          <a:lstStyle/>
          <a:p>
            <a:r>
              <a:t>• TAM: $2.5B</a:t>
            </a:r>
          </a:p>
          <a:p>
            <a:r>
              <a:t>• SAM: $850M</a:t>
            </a:r>
          </a:p>
          <a:p>
            <a:r>
              <a:t>• SOM: $125M (Year 1 target)</a:t>
            </a:r>
          </a:p>
        </p:txBody>
      </p:sp>
      <p:sp>
        <p:nvSpPr>
          <p:cNvPr id="4" name="Content Placeholder 3"/>
          <p:cNvSpPr>
            <a:spLocks noGrp="1"/>
          </p:cNvSpPr>
          <p:nvPr>
            <p:ph idx="2" sz="half"/>
          </p:nvPr>
        </p:nvSpPr>
        <p:spPr/>
        <p:txBody>
          <a:bodyPr/>
          <a:lstStyle/>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Growth Rate</a:t>
            </a:r>
          </a:p>
        </p:txBody>
      </p:sp>
      <p:sp>
        <p:nvSpPr>
          <p:cNvPr id="3" name="Content Placeholder 2"/>
          <p:cNvSpPr>
            <a:spLocks noGrp="1"/>
          </p:cNvSpPr>
          <p:nvPr>
            <p:ph idx="1" sz="half"/>
          </p:nvPr>
        </p:nvSpPr>
        <p:spPr/>
        <p:txBody>
          <a:bodyPr/>
          <a:lstStyle/>
          <a:p>
            <a:r>
              <a:t>• 12% annual market growth</a:t>
            </a:r>
          </a:p>
          <a:p>
            <a:r>
              <a:t>• Digital transformation driving demand</a:t>
            </a:r>
          </a:p>
        </p:txBody>
      </p:sp>
      <p:sp>
        <p:nvSpPr>
          <p:cNvPr id="4" name="Content Placeholder 3"/>
          <p:cNvSpPr>
            <a:spLocks noGrp="1"/>
          </p:cNvSpPr>
          <p:nvPr>
            <p:ph idx="2" sz="half"/>
          </p:nvPr>
        </p:nvSpPr>
        <p:spPr/>
        <p:txBody>
          <a:bodyPr/>
          <a:lstStyle/>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Landscape</a:t>
            </a:r>
          </a:p>
        </p:txBody>
      </p:sp>
      <p:sp>
        <p:nvSpPr>
          <p:cNvPr id="3" name="Content Placeholder 2"/>
          <p:cNvSpPr>
            <a:spLocks noGrp="1"/>
          </p:cNvSpPr>
          <p:nvPr>
            <p:ph idx="1" sz="half"/>
          </p:nvPr>
        </p:nvSpPr>
        <p:spPr/>
        <p:txBody>
          <a:bodyPr/>
          <a:lstStyle/>
          <a:p>
            <a:r>
              <a:t>• 3 major incumbents</a:t>
            </a:r>
          </a:p>
          <a:p>
            <a:r>
              <a:t>• Fragmented mid-market...</a:t>
            </a:r>
          </a:p>
        </p:txBody>
      </p:sp>
      <p:sp>
        <p:nvSpPr>
          <p:cNvPr id="4" name="Content Placeholder 3"/>
          <p:cNvSpPr>
            <a:spLocks noGrp="1"/>
          </p:cNvSpPr>
          <p:nvPr>
            <p:ph idx="2" sz="half"/>
          </p:nvPr>
        </p:nvSpPr>
        <p:spPr/>
        <p:txBody>
          <a:bodyPr/>
          <a:lstStyle/>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Recommendation</a:t>
            </a:r>
          </a:p>
        </p:txBody>
      </p:sp>
      <p:sp>
        <p:nvSpPr>
          <p:cNvPr id="3" name="Content Placeholder 2"/>
          <p:cNvSpPr>
            <a:spLocks noGrp="1"/>
          </p:cNvSpPr>
          <p:nvPr>
            <p:ph idx="1"/>
          </p:nvPr>
        </p:nvSpPr>
        <p:spPr/>
        <p:txBody>
          <a:bodyPr/>
          <a:lstStyle/>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Strengths</a:t>
            </a:r>
          </a:p>
        </p:txBody>
      </p:sp>
      <p:sp>
        <p:nvSpPr>
          <p:cNvPr id="3" name="Content Placeholder 2"/>
          <p:cNvSpPr>
            <a:spLocks noGrp="1"/>
          </p:cNvSpPr>
          <p:nvPr>
            <p:ph idx="1" sz="half"/>
          </p:nvPr>
        </p:nvSpPr>
        <p:spPr/>
        <p:txBody>
          <a:bodyPr/>
          <a:lstStyle/>
          <a:p>
            <a:r>
              <a:t>• 1. **Market Position**: Strong opportunity in Drug sector</a:t>
            </a:r>
          </a:p>
          <a:p>
            <a:r>
              <a:t>• 2. **Financials**: Positive projections with clear growth trajectory</a:t>
            </a:r>
          </a:p>
          <a:p>
            <a:r>
              <a:t>• 3. **Documents**: Comprehensive analysis supports investment case</a:t>
            </a:r>
          </a:p>
        </p:txBody>
      </p:sp>
      <p:sp>
        <p:nvSpPr>
          <p:cNvPr id="4" name="Content Placeholder 3"/>
          <p:cNvSpPr>
            <a:spLocks noGrp="1"/>
          </p:cNvSpPr>
          <p:nvPr>
            <p:ph idx="2" sz="half"/>
          </p:nvPr>
        </p:nvSpPr>
        <p:spPr/>
        <p:txBody>
          <a:bodyPr/>
          <a:lstStyle/>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Considerations</a:t>
            </a:r>
          </a:p>
        </p:txBody>
      </p:sp>
      <p:sp>
        <p:nvSpPr>
          <p:cNvPr id="3" name="Content Placeholder 2"/>
          <p:cNvSpPr>
            <a:spLocks noGrp="1"/>
          </p:cNvSpPr>
          <p:nvPr>
            <p:ph idx="1" sz="half"/>
          </p:nvPr>
        </p:nvSpPr>
        <p:spPr/>
        <p:txBody>
          <a:bodyPr/>
          <a:lstStyle/>
          <a:p>
            <a:r>
              <a:t>• Market dynamics in Europe</a:t>
            </a:r>
          </a:p>
          <a:p>
            <a:r>
              <a:t>• Execution timeline and resource requirements</a:t>
            </a:r>
          </a:p>
          <a:p>
            <a:r>
              <a:t>• Competitive landscape evolution</a:t>
            </a:r>
          </a:p>
        </p:txBody>
      </p:sp>
      <p:sp>
        <p:nvSpPr>
          <p:cNvPr id="4" name="Content Placeholder 3"/>
          <p:cNvSpPr>
            <a:spLocks noGrp="1"/>
          </p:cNvSpPr>
          <p:nvPr>
            <p:ph idx="2" sz="half"/>
          </p:nvPr>
        </p:nvSpPr>
        <p:spPr/>
        <p:txBody>
          <a:bodyPr/>
          <a:lstStyle/>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sz="half"/>
          </p:nvPr>
        </p:nvSpPr>
        <p:spPr/>
        <p:txBody>
          <a:bodyPr/>
          <a:lstStyle/>
          <a:p>
            <a:r>
              <a:t>• 1. **Due Diligence**: Comprehensive review of all findings</a:t>
            </a:r>
          </a:p>
          <a:p>
            <a:r>
              <a:t>• 2. **Financial Modeling**: Refine projections based on latest data</a:t>
            </a:r>
          </a:p>
          <a:p>
            <a:r>
              <a:t>• 3. **Investment Committee**: Present findings for approval</a:t>
            </a:r>
          </a:p>
          <a:p>
            <a:r>
              <a:t>• 4. **Legal &amp; Compliance**: Finalize documentation</a:t>
            </a:r>
          </a:p>
          <a:p>
            <a:r>
              <a:t>• ---</a:t>
            </a:r>
          </a:p>
          <a:p>
            <a:r>
              <a:t>• *This deck was automatically generated from uploaded documents and analysis.*</a:t>
            </a:r>
          </a:p>
          <a:p>
            <a:r>
              <a:t>• *Generated by the Business Deck Pipeline on scripts*</a:t>
            </a:r>
          </a:p>
        </p:txBody>
      </p:sp>
      <p:sp>
        <p:nvSpPr>
          <p:cNvPr id="4" name="Content Placeholder 3"/>
          <p:cNvSpPr>
            <a:spLocks noGrp="1"/>
          </p:cNvSpPr>
          <p:nvPr>
            <p:ph idx="2" sz="half"/>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18</Words>
  <Application>Microsoft Office PowerPoint</Application>
  <PresentationFormat>On-screen Show (4:3)</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 Display</vt:lpstr>
      <vt:lpstr>Arial</vt:lpstr>
      <vt:lpstr>Calibri</vt:lpstr>
      <vt:lpstr>Wingdings</vt:lpstr>
      <vt:lpstr>Office Theme</vt:lpstr>
      <vt:lpstr>TITLE SLIDE</vt:lpstr>
      <vt:lpstr>SECTION HEADER</vt:lpstr>
      <vt:lpstr>CONTENT TITLE</vt:lpstr>
      <vt:lpstr>FINANCIAL OVERVIEW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nambo yang</cp:lastModifiedBy>
  <cp:revision>8</cp:revision>
  <dcterms:created xsi:type="dcterms:W3CDTF">2013-01-27T09:14:16Z</dcterms:created>
  <dcterms:modified xsi:type="dcterms:W3CDTF">2026-01-12T09:11:12Z</dcterms:modified>
  <cp:category/>
</cp:coreProperties>
</file>